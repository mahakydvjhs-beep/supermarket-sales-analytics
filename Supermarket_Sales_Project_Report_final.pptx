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fff552c17fe84bda" /><Relationship Type="http://schemas.openxmlformats.org/package/2006/relationships/metadata/core-properties" Target="/docProps/core.xml" Id="R3e28b75ed5fc40a1" /><Relationship Type="http://schemas.openxmlformats.org/officeDocument/2006/relationships/extended-properties" Target="/docProps/app.xml" Id="Rf69d1f0216824dd7" /><Relationship Type="http://schemas.openxmlformats.org/officeDocument/2006/relationships/custom-properties" Target="/docProps/custom.xml" Id="R94e428a3e23c4212"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bc99acaa48c74183"/>
  </p:notesMasterIdLst>
  <p:sldIdLst>
    <p:sldId id="256" r:id="R5ac1710ad57a4a22"/>
    <p:sldId id="257" r:id="R0ad1539fa6894c61"/>
    <p:sldId id="258" r:id="R3f1ff0b48afc47ed"/>
    <p:sldId id="259" r:id="R99dd3c4ebb8b4c2b"/>
    <p:sldId id="260" r:id="R6e17520eff8145c2"/>
    <p:sldId id="261" r:id="R5c9109eba1434d31"/>
    <p:sldId id="262" r:id="Reb506b1f95f44ed1"/>
    <p:sldId id="263" r:id="R07caae7819e74a71"/>
    <p:sldId id="264" r:id="Rfe48c0f5775a4e6e"/>
    <p:sldId id="265" r:id="R9fbd495e2d4c498d"/>
    <p:sldId id="266" r:id="R0b21232b45284748"/>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5ac1710ad57a4a22" /><Relationship Type="http://schemas.openxmlformats.org/officeDocument/2006/relationships/notesMaster" Target="/ppt/notesMasters/notesMaster1.xml" Id="Rbc99acaa48c74183" /><Relationship Type="http://schemas.openxmlformats.org/officeDocument/2006/relationships/slide" Target="/ppt/slides/slide2.xml" Id="R0ad1539fa6894c61" /><Relationship Type="http://schemas.openxmlformats.org/officeDocument/2006/relationships/slide" Target="/ppt/slides/slide3.xml" Id="R3f1ff0b48afc47ed" /><Relationship Type="http://schemas.openxmlformats.org/officeDocument/2006/relationships/slide" Target="/ppt/slides/slide4.xml" Id="R99dd3c4ebb8b4c2b" /><Relationship Type="http://schemas.openxmlformats.org/officeDocument/2006/relationships/slide" Target="/ppt/slides/slide5.xml" Id="R6e17520eff8145c2" /><Relationship Type="http://schemas.openxmlformats.org/officeDocument/2006/relationships/slide" Target="/ppt/slides/slide6.xml" Id="R5c9109eba1434d31" /><Relationship Type="http://schemas.openxmlformats.org/officeDocument/2006/relationships/slide" Target="/ppt/slides/slide7.xml" Id="Reb506b1f95f44ed1" /><Relationship Type="http://schemas.openxmlformats.org/officeDocument/2006/relationships/slide" Target="/ppt/slides/slide8.xml" Id="R07caae7819e74a71" /><Relationship Type="http://schemas.openxmlformats.org/officeDocument/2006/relationships/slide" Target="/ppt/slides/slide9.xml" Id="Rfe48c0f5775a4e6e" /><Relationship Type="http://schemas.openxmlformats.org/officeDocument/2006/relationships/slide" Target="/ppt/slides/slide10.xml" Id="R9fbd495e2d4c498d" /><Relationship Type="http://schemas.openxmlformats.org/officeDocument/2006/relationships/slide" Target="/ppt/slides/slide11.xml" Id="R0b21232b4528474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fb5dbedc107c4aee"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953e20c8b16b410e" /><Relationship Type="http://schemas.openxmlformats.org/officeDocument/2006/relationships/slide" Target="/ppt/slides/slide1.xml" Id="R32d27f7fddce4231"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bd0eedabef824213" /><Relationship Type="http://schemas.openxmlformats.org/officeDocument/2006/relationships/slide" Target="/ppt/slides/slide2.xml" Id="R36189b6e0938476f"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37e1b8e011f340ff" /><Relationship Type="http://schemas.openxmlformats.org/officeDocument/2006/relationships/slide" Target="/ppt/slides/slide3.xml" Id="Rb729ede5027e4978"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b111878c9b29463e" /><Relationship Type="http://schemas.openxmlformats.org/officeDocument/2006/relationships/slide" Target="/ppt/slides/slide4.xml" Id="R1276bd7406204f30"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9fb2a349d2944fc7" /><Relationship Type="http://schemas.openxmlformats.org/officeDocument/2006/relationships/slide" Target="/ppt/slides/slide5.xml" Id="Re97579415a564aa3"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13d605c3710544bc" /><Relationship Type="http://schemas.openxmlformats.org/officeDocument/2006/relationships/slide" Target="/ppt/slides/slide6.xml" Id="Rc2942ff91b8e471d"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2a2c77c05f5b46e6" /><Relationship Type="http://schemas.openxmlformats.org/officeDocument/2006/relationships/slide" Target="/ppt/slides/slide7.xml" Id="R2a2af10c77e94297"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19ba7dc5e4144b46" /><Relationship Type="http://schemas.openxmlformats.org/officeDocument/2006/relationships/slide" Target="/ppt/slides/slide8.xml" Id="R68a5d41726f44040" /></Relationships>
</file>

<file path=ppt/notesSlides/_rels/notesSlide9.xml.rels>&#65279;<?xml version="1.0" encoding="utf-8"?><Relationships xmlns="http://schemas.openxmlformats.org/package/2006/relationships"><Relationship Type="http://schemas.openxmlformats.org/officeDocument/2006/relationships/notesMaster" Target="/ppt/notesMasters/notesMaster1.xml" Id="R004411908536465d" /><Relationship Type="http://schemas.openxmlformats.org/officeDocument/2006/relationships/slide" Target="/ppt/slides/slide9.xml" Id="R7a903f408a8241d7" /></Relationships>
</file>

<file path=ppt/notesSlides/_rels/notesSlide10.xml.rels>&#65279;<?xml version="1.0" encoding="utf-8"?><Relationships xmlns="http://schemas.openxmlformats.org/package/2006/relationships"><Relationship Type="http://schemas.openxmlformats.org/officeDocument/2006/relationships/notesMaster" Target="/ppt/notesMasters/notesMaster1.xml" Id="R9edb9557c45e44cf" /><Relationship Type="http://schemas.openxmlformats.org/officeDocument/2006/relationships/slide" Target="/ppt/slides/slide10.xml" Id="R55f3e62c25e04c7e" /></Relationships>
</file>

<file path=ppt/notesSlides/_rels/notesSlide11.xml.rels>&#65279;<?xml version="1.0" encoding="utf-8"?><Relationships xmlns="http://schemas.openxmlformats.org/package/2006/relationships"><Relationship Type="http://schemas.openxmlformats.org/officeDocument/2006/relationships/notesMaster" Target="/ppt/notesMasters/notesMaster1.xml" Id="R993f29b5535e45ae" /><Relationship Type="http://schemas.openxmlformats.org/officeDocument/2006/relationships/slide" Target="/ppt/slides/slide11.xml" Id="R2c1dd687b2e548a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Welcome slide. Introduce the project title, the team, and the dataset. Mention this is a full 6-step data analytics pipeline built in Python with a Streamlit dashboard.</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slide describes the project goal, dataset details, the 6-step pipeline we followed, and the technology used. Emphasise that the entire pipeline is automated — loading the CSV to business insights happens inside a single Streamlit app.</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Step 1 — We loaded the CSV using pandas with UTF-8-BOM encoding to handle the byte-order mark. After stripping whitespace from column names we inspected shape, data types, and the first few rows to understand what we are working with.</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Step 2 — We applied 8 sequential checks. The most significant finding was missing Customer IDs (guest checkouts — normal for retail) and negative quantities (returns/cancellations). These were removed to keep the analysis focused on forward sales only. All checks are logged in a report dictionary displayed in the Streamlit app.</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Step 3 — Sales is a derived column. We compute it as Quantity multiplied by Price. This is the primary revenue metric for all downstream analysis. Invoice-level totals are the sum of all line-item Sales on that invoice.</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Step 4 — We grouped the clean data across 8 dimensions producing summary tables with totals, counts, and averages. The UK dominates sales volume. November is the peak month driven by Christmas preparation. Peak purchasing hour is around midday.</a:t>
            </a: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Step 5 — All 12 charts are rendered in Plotly inside the Streamlit app. They are interactive — hover, zoom, filter. The sidebar filters update all charts live. Each chart is colour-coded by theme: blue for country, green for products, amber for time.</a:t>
            </a:r>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Step 6 — These 8 recommendations are directly derived from the analysis. Each is evidence-based: the country expansion recommendation comes from the country comparison chart; the VIP programme recommendation comes from the top-customer table; the November preparation comes from the monthly trend.</a:t>
            </a:r>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Demo slide — if presenting live, open the Streamlit app on your browser and walk through each tab. Show how the sidebar filter instantly updates all charts. Highlight the business decisions tab as the key output for stakeholders.</a:t>
            </a:r>
          </a:p>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Architecture overview slide. Emphasise the clean separation: data_loader handles all IO and cleaning, analysis handles all computation, app.py is pure UI. This makes it easy to swap in a new dataset or add new analysis functions without touching the frontend.</a:t>
            </a:r>
          </a:p>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Closing slide. Open the floor for questions. Offer to do a live demo of the Streamlit dashboard if the audience wants to see the interactive charts and filters in action.</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5747f305c634de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c20ca5f08914ef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b6bd3ea8a614d7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d9889c85ba8416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71299acf08e46c1"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564f6fd55d44477f"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c727f529c3e14470" /><Relationship Type="http://schemas.openxmlformats.org/officeDocument/2006/relationships/notesSlide" Target="/ppt/notesSlides/notesSlide1.xml" Id="R033c14b50d3040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0412972b18f415b" /><Relationship Type="http://schemas.openxmlformats.org/officeDocument/2006/relationships/notesSlide" Target="/ppt/notesSlides/notesSlide2.xml" Id="R5fb1dadd7f2a4e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a0838fb07e84210" /><Relationship Type="http://schemas.openxmlformats.org/officeDocument/2006/relationships/notesSlide" Target="/ppt/notesSlides/notesSlide3.xml" Id="R84cce18f789044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a0ba84c206f4541" /><Relationship Type="http://schemas.openxmlformats.org/officeDocument/2006/relationships/notesSlide" Target="/ppt/notesSlides/notesSlide4.xml" Id="Ra100eeb20127445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331e3b87f794e2b" /><Relationship Type="http://schemas.openxmlformats.org/officeDocument/2006/relationships/notesSlide" Target="/ppt/notesSlides/notesSlide5.xml" Id="R4ebc110b7c3b45f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be84af67ac9429f" /><Relationship Type="http://schemas.openxmlformats.org/officeDocument/2006/relationships/notesSlide" Target="/ppt/notesSlides/notesSlide6.xml" Id="Reef2099424db400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19fbbc08ea64e80" /><Relationship Type="http://schemas.openxmlformats.org/officeDocument/2006/relationships/notesSlide" Target="/ppt/notesSlides/notesSlide7.xml" Id="Rbe3b529cf9f144c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72a5aed4d664015" /><Relationship Type="http://schemas.openxmlformats.org/officeDocument/2006/relationships/notesSlide" Target="/ppt/notesSlides/notesSlide8.xml" Id="Raf9d00cb2bdb4ec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626e3863ee44b84" /><Relationship Type="http://schemas.openxmlformats.org/officeDocument/2006/relationships/notesSlide" Target="/ppt/notesSlides/notesSlide9.xml" Id="R0bf24b32e435490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fcbf3c6ddd94916" /><Relationship Type="http://schemas.openxmlformats.org/officeDocument/2006/relationships/notesSlide" Target="/ppt/notesSlides/notesSlide10.xml" Id="R0e456a973186447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b665fa1ce494f68" /><Relationship Type="http://schemas.openxmlformats.org/officeDocument/2006/relationships/notesSlide" Target="/ppt/notesSlides/notesSlide11.xml" Id="R6a569419224b4082" /></Relationships>
</file>

<file path=ppt/slides/slide1.xml><?xml version="1.0" encoding="utf-8"?>
<p:sld xmlns:p="http://schemas.openxmlformats.org/presentationml/2006/main">
  <p:cSld>
    <p:bg>
      <p:bgPr>
        <a:solidFill xmlns:a="http://schemas.openxmlformats.org/drawingml/2006/main">
          <a:srgbClr val="1E3A5F"/>
        </a:solidFill>
      </p:bgPr>
    </p:bg>
    <p:spTree>
      <p:nvGrpSpPr>
        <p:cNvPr id="1" name=""/>
        <p:cNvGrpSpPr/>
        <p:nvPr/>
      </p:nvGrpSpPr>
      <p:grpSpPr/>
      <p:sp>
        <p:nvSpPr>
          <p:cNvPr id="100000" name="Tag"/>
          <p:cNvSpPr txBox="1"/>
          <p:nvPr/>
        </p:nvSpPr>
        <p:spPr>
          <a:xfrm xmlns:a="http://schemas.openxmlformats.org/drawingml/2006/main">
            <a:off x="720000" y="1620000"/>
            <a:ext cx="10440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algn="ctr"/>
            <a:r>
              <a:rPr lang="en-US" sz="1100" b="1">
                <a:solidFill>
                  <a:srgbClr val="7EC8E3"/>
                </a:solidFill>
              </a:rPr>
              <a:t>DATA ANALYTICS PROJECT</a:t>
            </a:r>
          </a:p>
        </p:txBody>
      </p:sp>
      <p:sp>
        <p:nvSpPr>
          <p:cNvPr id="100001" name="Title"/>
          <p:cNvSpPr txBox="1"/>
          <p:nvPr/>
        </p:nvSpPr>
        <p:spPr>
          <a:xfrm xmlns:a="http://schemas.openxmlformats.org/drawingml/2006/main">
            <a:off x="720000" y="2052000"/>
            <a:ext cx="10440000" cy="12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algn="ctr"/>
            <a:r>
              <a:rPr lang="en-US" sz="4200" b="1">
                <a:solidFill>
                  <a:srgbClr val="FFFFFF"/>
                </a:solidFill>
              </a:rPr>
              <a:t>Supermarket Sales Analytics</a:t>
            </a:r>
          </a:p>
        </p:txBody>
      </p:sp>
      <p:sp>
        <p:nvSpPr>
          <p:cNvPr id="100002" name="Sub"/>
          <p:cNvSpPr txBox="1"/>
          <p:nvPr/>
        </p:nvSpPr>
        <p:spPr>
          <a:xfrm xmlns:a="http://schemas.openxmlformats.org/drawingml/2006/main">
            <a:off x="720000" y="3384000"/>
            <a:ext cx="1044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algn="ctr"/>
            <a:r>
              <a:rPr lang="en-US" sz="1800" b="0">
                <a:solidFill>
                  <a:srgbClr val="B0C4DE"/>
                </a:solidFill>
              </a:rPr>
              <a:t>UK Retail Transactions · End-to-End Data Analysis Pipeline</a:t>
            </a:r>
          </a:p>
        </p:txBody>
      </p:sp>
      <p:sp>
        <p:nvSpPr>
          <p:cNvPr id="100003" name="Team"/>
          <p:cNvSpPr txBox="1"/>
          <p:nvPr/>
        </p:nvSpPr>
        <p:spPr>
          <a:xfrm xmlns:a="http://schemas.openxmlformats.org/drawingml/2006/main">
            <a:off x="720000" y="4860000"/>
            <a:ext cx="10440000" cy="324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algn="ctr"/>
            <a:r>
              <a:rPr lang="en-US" sz="1300" b="0">
                <a:solidFill>
                  <a:srgbClr val="90A4AE"/>
                </a:solidFill>
              </a:rPr>
              <a:t>Prepared by: Analytics Team  |  Dataset: UK Retail  |  Tools: Python · Pandas · Streamlit · Plotly</a:t>
            </a:r>
          </a:p>
        </p:txBody>
      </p:sp>
    </p:spTree>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04" name="Accent"/>
          <p:cNvSpPr txBox="1"/>
          <p:nvPr/>
        </p:nvSpPr>
        <p:spPr>
          <a:xfrm xmlns:a="http://schemas.openxmlformats.org/drawingml/2006/main">
            <a:off x="0" y="0"/>
            <a:ext cx="216000" cy="6858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005" name="Title"/>
          <p:cNvSpPr txBox="1"/>
          <p:nvPr/>
        </p:nvSpPr>
        <p:spPr>
          <a:xfrm xmlns:a="http://schemas.openxmlformats.org/drawingml/2006/main">
            <a:off x="432000" y="288000"/>
            <a:ext cx="10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000" b="1">
                <a:solidFill>
                  <a:srgbClr val="1E3A5F"/>
                </a:solidFill>
              </a:rPr>
              <a:t>Project Overview</a:t>
            </a:r>
          </a:p>
        </p:txBody>
      </p:sp>
      <p:sp>
        <p:nvSpPr>
          <p:cNvPr id="100006" name="Line"/>
          <p:cNvSpPr txBox="1"/>
          <p:nvPr/>
        </p:nvSpPr>
        <p:spPr>
          <a:xfrm xmlns:a="http://schemas.openxmlformats.org/drawingml/2006/main">
            <a:off x="432000" y="864000"/>
            <a:ext cx="10080000" cy="216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007" name="Obj"/>
          <p:cNvSpPr txBox="1"/>
          <p:nvPr/>
        </p:nvSpPr>
        <p:spPr>
          <a:xfrm xmlns:a="http://schemas.openxmlformats.org/drawingml/2006/main">
            <a:off x="432000" y="1008000"/>
            <a:ext cx="4860000" cy="1800000"/>
          </a:xfrm>
          <a:prstGeom xmlns:a="http://schemas.openxmlformats.org/drawingml/2006/main" prst="rect">
            <a:avLst/>
          </a:prstGeom>
          <a:solidFill xmlns:a="http://schemas.openxmlformats.org/drawingml/2006/main">
            <a:srgbClr val="EFF6FF"/>
          </a:solidFill>
        </p:spPr>
        <p:txBody>
          <a:bodyPr xmlns:a="http://schemas.openxmlformats.org/drawingml/2006/main"/>
          <a:lstStyle xmlns:a="http://schemas.openxmlformats.org/drawingml/2006/main"/>
          <a:p xmlns:a="http://schemas.openxmlformats.org/drawingml/2006/main">
            <a:r>
              <a:rPr lang="en-US" sz="1400">
                <a:solidFill>
                  <a:srgbClr val="1E293B"/>
                </a:solidFill>
              </a:rPr>
              <a:t>🎯  Objective</a:t>
            </a:r>
          </a:p>
          <a:p xmlns:a="http://schemas.openxmlformats.org/drawingml/2006/main">
            <a:r>
              <a:rPr lang="en-US" sz="1400">
                <a:solidFill>
                  <a:srgbClr val="1E293B"/>
                </a:solidFill>
              </a:rPr>
              <a:t>Analyse UK retail transaction data to uncover sales trends, identify top-performing products and countries, understand customer purchasing behaviour, and derive actionable business recommendations.</a:t>
            </a:r>
          </a:p>
        </p:txBody>
      </p:sp>
      <p:sp>
        <p:nvSpPr>
          <p:cNvPr id="100008" name="Scope"/>
          <p:cNvSpPr txBox="1"/>
          <p:nvPr/>
        </p:nvSpPr>
        <p:spPr>
          <a:xfrm xmlns:a="http://schemas.openxmlformats.org/drawingml/2006/main">
            <a:off x="5580000" y="1008000"/>
            <a:ext cx="4860000" cy="1800000"/>
          </a:xfrm>
          <a:prstGeom xmlns:a="http://schemas.openxmlformats.org/drawingml/2006/main" prst="rect">
            <a:avLst/>
          </a:prstGeom>
          <a:solidFill xmlns:a="http://schemas.openxmlformats.org/drawingml/2006/main">
            <a:srgbClr val="EFF6FF"/>
          </a:solidFill>
        </p:spPr>
        <p:txBody>
          <a:bodyPr xmlns:a="http://schemas.openxmlformats.org/drawingml/2006/main"/>
          <a:lstStyle xmlns:a="http://schemas.openxmlformats.org/drawingml/2006/main"/>
          <a:p xmlns:a="http://schemas.openxmlformats.org/drawingml/2006/main">
            <a:r>
              <a:rPr lang="en-US" sz="1400">
                <a:solidFill>
                  <a:srgbClr val="1E293B"/>
                </a:solidFill>
              </a:rPr>
              <a:t>📂  Dataset</a:t>
            </a:r>
          </a:p>
          <a:p xmlns:a="http://schemas.openxmlformats.org/drawingml/2006/main">
            <a:r>
              <a:rPr lang="en-US" sz="1400">
                <a:solidFill>
                  <a:srgbClr val="1E293B"/>
                </a:solidFill>
              </a:rPr>
              <a:t>• File: supermarket_data.csv</a:t>
            </a:r>
          </a:p>
          <a:p xmlns:a="http://schemas.openxmlformats.org/drawingml/2006/main">
            <a:r>
              <a:rPr lang="en-US" sz="1400">
                <a:solidFill>
                  <a:srgbClr val="1E293B"/>
                </a:solidFill>
              </a:rPr>
              <a:t>• Source: UK Online Retail Transactions</a:t>
            </a:r>
          </a:p>
          <a:p xmlns:a="http://schemas.openxmlformats.org/drawingml/2006/main">
            <a:r>
              <a:rPr lang="en-US" sz="1400">
                <a:solidFill>
                  <a:srgbClr val="1E293B"/>
                </a:solidFill>
              </a:rPr>
              <a:t>• Columns: Invoice, StockCode, Description,</a:t>
            </a:r>
          </a:p>
          <a:p xmlns:a="http://schemas.openxmlformats.org/drawingml/2006/main">
            <a:r>
              <a:rPr lang="en-US" sz="1400">
                <a:solidFill>
                  <a:srgbClr val="1E293B"/>
                </a:solidFill>
              </a:rPr>
              <a:t>   Quantity, InvoiceDate, Price,</a:t>
            </a:r>
          </a:p>
          <a:p xmlns:a="http://schemas.openxmlformats.org/drawingml/2006/main">
            <a:r>
              <a:rPr lang="en-US" sz="1400">
                <a:solidFill>
                  <a:srgbClr val="1E293B"/>
                </a:solidFill>
              </a:rPr>
              <a:t>   Customer ID, Country</a:t>
            </a:r>
          </a:p>
          <a:p xmlns:a="http://schemas.openxmlformats.org/drawingml/2006/main">
            <a:r>
              <a:rPr lang="en-US" sz="1400">
                <a:solidFill>
                  <a:srgbClr val="1E293B"/>
                </a:solidFill>
              </a:rPr>
              <a:t>• Raw size: ~500K+ rows</a:t>
            </a:r>
          </a:p>
        </p:txBody>
      </p:sp>
      <p:sp>
        <p:nvSpPr>
          <p:cNvPr id="100009" name="Steps"/>
          <p:cNvSpPr txBox="1"/>
          <p:nvPr/>
        </p:nvSpPr>
        <p:spPr>
          <a:xfrm xmlns:a="http://schemas.openxmlformats.org/drawingml/2006/main">
            <a:off x="432000" y="2988000"/>
            <a:ext cx="10008000" cy="2340000"/>
          </a:xfrm>
          <a:prstGeom xmlns:a="http://schemas.openxmlformats.org/drawingml/2006/main" prst="rect">
            <a:avLst/>
          </a:prstGeom>
          <a:solidFill xmlns:a="http://schemas.openxmlformats.org/drawingml/2006/main">
            <a:srgbClr val="F1F5F9"/>
          </a:solidFill>
        </p:spPr>
        <p:txBody>
          <a:bodyPr xmlns:a="http://schemas.openxmlformats.org/drawingml/2006/main"/>
          <a:lstStyle xmlns:a="http://schemas.openxmlformats.org/drawingml/2006/main"/>
          <a:p xmlns:a="http://schemas.openxmlformats.org/drawingml/2006/main">
            <a:r>
              <a:rPr lang="en-US" sz="1500">
                <a:solidFill>
                  <a:srgbClr val="1E293B"/>
                </a:solidFill>
              </a:rPr>
              <a:t>📋  6-Step Analytics Pipeline</a:t>
            </a:r>
          </a:p>
          <a:p xmlns:a="http://schemas.openxmlformats.org/drawingml/2006/main">
            <a:r>
              <a:rPr lang="en-US" sz="1500">
                <a:solidFill>
                  <a:srgbClr val="1E293B"/>
                </a:solidFill>
              </a:rPr>
              <a:t/>
            </a:r>
          </a:p>
          <a:p xmlns:a="http://schemas.openxmlformats.org/drawingml/2006/main">
            <a:r>
              <a:rPr lang="en-US" sz="1500">
                <a:solidFill>
                  <a:srgbClr val="1E293B"/>
                </a:solidFill>
              </a:rPr>
              <a:t>  Step 1  →  Collect &amp; Load CSV dataset</a:t>
            </a:r>
          </a:p>
          <a:p xmlns:a="http://schemas.openxmlformats.org/drawingml/2006/main">
            <a:r>
              <a:rPr lang="en-US" sz="1500">
                <a:solidFill>
                  <a:srgbClr val="1E293B"/>
                </a:solidFill>
              </a:rPr>
              <a:t>  Step 2  →  Clean missing &amp; incorrect values</a:t>
            </a:r>
          </a:p>
          <a:p xmlns:a="http://schemas.openxmlformats.org/drawingml/2006/main">
            <a:r>
              <a:rPr lang="en-US" sz="1500">
                <a:solidFill>
                  <a:srgbClr val="1E293B"/>
                </a:solidFill>
              </a:rPr>
              <a:t>  Step 3  →  Calculate Sales = Quantity × Price</a:t>
            </a:r>
          </a:p>
          <a:p xmlns:a="http://schemas.openxmlformats.org/drawingml/2006/main">
            <a:r>
              <a:rPr lang="en-US" sz="1500">
                <a:solidFill>
                  <a:srgbClr val="1E293B"/>
                </a:solidFill>
              </a:rPr>
              <a:t>  Step 4  →  Group &amp; summarise (totals, counts, averages)</a:t>
            </a:r>
          </a:p>
          <a:p xmlns:a="http://schemas.openxmlformats.org/drawingml/2006/main">
            <a:r>
              <a:rPr lang="en-US" sz="1500">
                <a:solidFill>
                  <a:srgbClr val="1E293B"/>
                </a:solidFill>
              </a:rPr>
              <a:t>  Step 5  →  Create charts to compare results</a:t>
            </a:r>
          </a:p>
          <a:p xmlns:a="http://schemas.openxmlformats.org/drawingml/2006/main">
            <a:r>
              <a:rPr lang="en-US" sz="1500">
                <a:solidFill>
                  <a:srgbClr val="1E293B"/>
                </a:solidFill>
              </a:rPr>
              <a:t>  Step 6  →  Business decisions from results</a:t>
            </a:r>
          </a:p>
        </p:txBody>
      </p:sp>
      <p:sp>
        <p:nvSpPr>
          <p:cNvPr id="100010" name="Tools"/>
          <p:cNvSpPr txBox="1"/>
          <p:nvPr/>
        </p:nvSpPr>
        <p:spPr>
          <a:xfrm xmlns:a="http://schemas.openxmlformats.org/drawingml/2006/main">
            <a:off x="432000" y="5544000"/>
            <a:ext cx="10008000" cy="324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64748B"/>
                </a:solidFill>
              </a:rPr>
              <a:t>🛠️  Technology Stack:  Python 3  ·  Pandas  ·  Plotly  ·  Streamlit</a:t>
            </a:r>
          </a:p>
        </p:txBody>
      </p:sp>
    </p:spTree>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11" name="Accent"/>
          <p:cNvSpPr txBox="1"/>
          <p:nvPr/>
        </p:nvSpPr>
        <p:spPr>
          <a:xfrm xmlns:a="http://schemas.openxmlformats.org/drawingml/2006/main">
            <a:off x="0" y="0"/>
            <a:ext cx="216000" cy="6858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012" name="Title"/>
          <p:cNvSpPr txBox="1"/>
          <p:nvPr/>
        </p:nvSpPr>
        <p:spPr>
          <a:xfrm xmlns:a="http://schemas.openxmlformats.org/drawingml/2006/main">
            <a:off x="432000" y="288000"/>
            <a:ext cx="10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000" b="1">
                <a:solidFill>
                  <a:srgbClr val="1E3A5F"/>
                </a:solidFill>
              </a:rPr>
              <a:t>Step 1 — Collect &amp; Load the Dataset</a:t>
            </a:r>
          </a:p>
        </p:txBody>
      </p:sp>
      <p:sp>
        <p:nvSpPr>
          <p:cNvPr id="100013" name="Line"/>
          <p:cNvSpPr txBox="1"/>
          <p:nvPr/>
        </p:nvSpPr>
        <p:spPr>
          <a:xfrm xmlns:a="http://schemas.openxmlformats.org/drawingml/2006/main">
            <a:off x="432000" y="864000"/>
            <a:ext cx="10080000" cy="216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014" name="ColBox"/>
          <p:cNvSpPr txBox="1"/>
          <p:nvPr/>
        </p:nvSpPr>
        <p:spPr>
          <a:xfrm xmlns:a="http://schemas.openxmlformats.org/drawingml/2006/main">
            <a:off x="432000" y="1008000"/>
            <a:ext cx="6120000" cy="2880000"/>
          </a:xfrm>
          <a:prstGeom xmlns:a="http://schemas.openxmlformats.org/drawingml/2006/main" prst="rect">
            <a:avLst/>
          </a:prstGeom>
          <a:solidFill xmlns:a="http://schemas.openxmlformats.org/drawingml/2006/main">
            <a:srgbClr val="F1F5F9"/>
          </a:solidFill>
        </p:spPr>
        <p:txBody>
          <a:bodyPr xmlns:a="http://schemas.openxmlformats.org/drawingml/2006/main"/>
          <a:lstStyle xmlns:a="http://schemas.openxmlformats.org/drawingml/2006/main"/>
          <a:p xmlns:a="http://schemas.openxmlformats.org/drawingml/2006/main">
            <a:r>
              <a:rPr lang="en-US" sz="1300">
                <a:solidFill>
                  <a:srgbClr val="1E293B"/>
                </a:solidFill>
              </a:rPr>
              <a:t>Column Schema</a:t>
            </a:r>
          </a:p>
          <a:p xmlns:a="http://schemas.openxmlformats.org/drawingml/2006/main">
            <a:r>
              <a:rPr lang="en-US" sz="1300">
                <a:solidFill>
                  <a:srgbClr val="1E293B"/>
                </a:solidFill>
              </a:rPr>
              <a:t/>
            </a:r>
          </a:p>
          <a:p xmlns:a="http://schemas.openxmlformats.org/drawingml/2006/main">
            <a:r>
              <a:rPr lang="en-US" sz="1300">
                <a:solidFill>
                  <a:srgbClr val="1E293B"/>
                </a:solidFill>
              </a:rPr>
              <a:t>Invoice          Unique invoice number (transaction ID)</a:t>
            </a:r>
          </a:p>
          <a:p xmlns:a="http://schemas.openxmlformats.org/drawingml/2006/main">
            <a:r>
              <a:rPr lang="en-US" sz="1300">
                <a:solidFill>
                  <a:srgbClr val="1E293B"/>
                </a:solidFill>
              </a:rPr>
              <a:t>StockCode       Product stock keeping unit code</a:t>
            </a:r>
          </a:p>
          <a:p xmlns:a="http://schemas.openxmlformats.org/drawingml/2006/main">
            <a:r>
              <a:rPr lang="en-US" sz="1300">
                <a:solidFill>
                  <a:srgbClr val="1E293B"/>
                </a:solidFill>
              </a:rPr>
              <a:t>Description     Plain-text product name</a:t>
            </a:r>
          </a:p>
          <a:p xmlns:a="http://schemas.openxmlformats.org/drawingml/2006/main">
            <a:r>
              <a:rPr lang="en-US" sz="1300">
                <a:solidFill>
                  <a:srgbClr val="1E293B"/>
                </a:solidFill>
              </a:rPr>
              <a:t>Quantity          Number of units purchased</a:t>
            </a:r>
          </a:p>
          <a:p xmlns:a="http://schemas.openxmlformats.org/drawingml/2006/main">
            <a:r>
              <a:rPr lang="en-US" sz="1300">
                <a:solidFill>
                  <a:srgbClr val="1E293B"/>
                </a:solidFill>
              </a:rPr>
              <a:t>InvoiceDate     Date &amp; time of purchase</a:t>
            </a:r>
          </a:p>
          <a:p xmlns:a="http://schemas.openxmlformats.org/drawingml/2006/main">
            <a:r>
              <a:rPr lang="en-US" sz="1300">
                <a:solidFill>
                  <a:srgbClr val="1E293B"/>
                </a:solidFill>
              </a:rPr>
              <a:t>Price               Unit selling price (GBP)</a:t>
            </a:r>
          </a:p>
          <a:p xmlns:a="http://schemas.openxmlformats.org/drawingml/2006/main">
            <a:r>
              <a:rPr lang="en-US" sz="1300">
                <a:solidFill>
                  <a:srgbClr val="1E293B"/>
                </a:solidFill>
              </a:rPr>
              <a:t>Customer ID   Anonymous customer identifier</a:t>
            </a:r>
          </a:p>
          <a:p xmlns:a="http://schemas.openxmlformats.org/drawingml/2006/main">
            <a:r>
              <a:rPr lang="en-US" sz="1300">
                <a:solidFill>
                  <a:srgbClr val="1E293B"/>
                </a:solidFill>
              </a:rPr>
              <a:t>Country           Country of customer residence</a:t>
            </a:r>
          </a:p>
        </p:txBody>
      </p:sp>
      <p:sp>
        <p:nvSpPr>
          <p:cNvPr id="100015" name="StatBox"/>
          <p:cNvSpPr txBox="1"/>
          <p:nvPr/>
        </p:nvSpPr>
        <p:spPr>
          <a:xfrm xmlns:a="http://schemas.openxmlformats.org/drawingml/2006/main">
            <a:off x="7020000" y="1008000"/>
            <a:ext cx="3528000" cy="2880000"/>
          </a:xfrm>
          <a:prstGeom xmlns:a="http://schemas.openxmlformats.org/drawingml/2006/main" prst="rect">
            <a:avLst/>
          </a:prstGeom>
          <a:solidFill xmlns:a="http://schemas.openxmlformats.org/drawingml/2006/main">
            <a:srgbClr val="EFF6FF"/>
          </a:solidFill>
        </p:spPr>
        <p:txBody>
          <a:bodyPr xmlns:a="http://schemas.openxmlformats.org/drawingml/2006/main"/>
          <a:lstStyle xmlns:a="http://schemas.openxmlformats.org/drawingml/2006/main"/>
          <a:p xmlns:a="http://schemas.openxmlformats.org/drawingml/2006/main">
            <a:r>
              <a:rPr lang="en-US" sz="1300">
                <a:solidFill>
                  <a:srgbClr val="1E293B"/>
                </a:solidFill>
              </a:rPr>
              <a:t>Dataset At a Glance</a:t>
            </a:r>
          </a:p>
          <a:p xmlns:a="http://schemas.openxmlformats.org/drawingml/2006/main">
            <a:r>
              <a:rPr lang="en-US" sz="1300">
                <a:solidFill>
                  <a:srgbClr val="1E293B"/>
                </a:solidFill>
              </a:rPr>
              <a:t/>
            </a:r>
          </a:p>
          <a:p xmlns:a="http://schemas.openxmlformats.org/drawingml/2006/main">
            <a:r>
              <a:rPr lang="en-US" sz="1300">
                <a:solidFill>
                  <a:srgbClr val="1E293B"/>
                </a:solidFill>
              </a:rPr>
              <a:t>  Raw rows loaded       500,000+</a:t>
            </a:r>
          </a:p>
          <a:p xmlns:a="http://schemas.openxmlformats.org/drawingml/2006/main">
            <a:r>
              <a:rPr lang="en-US" sz="1300">
                <a:solidFill>
                  <a:srgbClr val="1E293B"/>
                </a:solidFill>
              </a:rPr>
              <a:t>  Total columns                     8</a:t>
            </a:r>
          </a:p>
          <a:p xmlns:a="http://schemas.openxmlformats.org/drawingml/2006/main">
            <a:r>
              <a:rPr lang="en-US" sz="1300">
                <a:solidFill>
                  <a:srgbClr val="1E293B"/>
                </a:solidFill>
              </a:rPr>
              <a:t>  Date range          Dec 2010 –</a:t>
            </a:r>
          </a:p>
          <a:p xmlns:a="http://schemas.openxmlformats.org/drawingml/2006/main">
            <a:r>
              <a:rPr lang="en-US" sz="1300">
                <a:solidFill>
                  <a:srgbClr val="1E293B"/>
                </a:solidFill>
              </a:rPr>
              <a:t>                              Dec 2011</a:t>
            </a:r>
          </a:p>
          <a:p xmlns:a="http://schemas.openxmlformats.org/drawingml/2006/main">
            <a:r>
              <a:rPr lang="en-US" sz="1300">
                <a:solidFill>
                  <a:srgbClr val="1E293B"/>
                </a:solidFill>
              </a:rPr>
              <a:t>  Countries                          38</a:t>
            </a:r>
          </a:p>
          <a:p xmlns:a="http://schemas.openxmlformats.org/drawingml/2006/main">
            <a:r>
              <a:rPr lang="en-US" sz="1300">
                <a:solidFill>
                  <a:srgbClr val="1E293B"/>
                </a:solidFill>
              </a:rPr>
              <a:t>  Unique products          4,000+</a:t>
            </a:r>
          </a:p>
          <a:p xmlns:a="http://schemas.openxmlformats.org/drawingml/2006/main">
            <a:r>
              <a:rPr lang="en-US" sz="1300">
                <a:solidFill>
                  <a:srgbClr val="1E293B"/>
                </a:solidFill>
              </a:rPr>
              <a:t>  Unique customers         4,300+</a:t>
            </a:r>
          </a:p>
          <a:p xmlns:a="http://schemas.openxmlformats.org/drawingml/2006/main">
            <a:r>
              <a:rPr lang="en-US" sz="1300">
                <a:solidFill>
                  <a:srgbClr val="1E293B"/>
                </a:solidFill>
              </a:rPr>
              <a:t>  File format                      CSV</a:t>
            </a:r>
          </a:p>
          <a:p xmlns:a="http://schemas.openxmlformats.org/drawingml/2006/main">
            <a:r>
              <a:rPr lang="en-US" sz="1300">
                <a:solidFill>
                  <a:srgbClr val="1E293B"/>
                </a:solidFill>
              </a:rPr>
              <a:t>  Encoding               UTF-8 BOM</a:t>
            </a:r>
          </a:p>
        </p:txBody>
      </p:sp>
      <p:sp>
        <p:nvSpPr>
          <p:cNvPr id="100016" name="Code"/>
          <p:cNvSpPr txBox="1"/>
          <p:nvPr/>
        </p:nvSpPr>
        <p:spPr>
          <a:xfrm xmlns:a="http://schemas.openxmlformats.org/drawingml/2006/main">
            <a:off x="432000" y="4068000"/>
            <a:ext cx="10008000" cy="1440000"/>
          </a:xfrm>
          <a:prstGeom xmlns:a="http://schemas.openxmlformats.org/drawingml/2006/main" prst="rect">
            <a:avLst/>
          </a:prstGeom>
          <a:solidFill xmlns:a="http://schemas.openxmlformats.org/drawingml/2006/main">
            <a:srgbClr val="F8FAFC"/>
          </a:solidFill>
        </p:spPr>
        <p:txBody>
          <a:bodyPr xmlns:a="http://schemas.openxmlformats.org/drawingml/2006/main"/>
          <a:lstStyle xmlns:a="http://schemas.openxmlformats.org/drawingml/2006/main"/>
          <a:p xmlns:a="http://schemas.openxmlformats.org/drawingml/2006/main">
            <a:r>
              <a:rPr lang="en-US" sz="1200">
                <a:solidFill>
                  <a:srgbClr val="1E293B"/>
                </a:solidFill>
              </a:rPr>
              <a:t># Python — load &amp; inspect</a:t>
            </a:r>
          </a:p>
          <a:p xmlns:a="http://schemas.openxmlformats.org/drawingml/2006/main">
            <a:r>
              <a:rPr lang="en-US" sz="1200">
                <a:solidFill>
                  <a:srgbClr val="1E293B"/>
                </a:solidFill>
              </a:rPr>
              <a:t>import pandas as pd</a:t>
            </a:r>
          </a:p>
          <a:p xmlns:a="http://schemas.openxmlformats.org/drawingml/2006/main">
            <a:r>
              <a:rPr lang="en-US" sz="1200">
                <a:solidFill>
                  <a:srgbClr val="1E293B"/>
                </a:solidFill>
              </a:rPr>
              <a:t/>
            </a:r>
          </a:p>
          <a:p xmlns:a="http://schemas.openxmlformats.org/drawingml/2006/main">
            <a:r>
              <a:rPr lang="en-US" sz="1200">
                <a:solidFill>
                  <a:srgbClr val="1E293B"/>
                </a:solidFill>
              </a:rPr>
              <a:t>df = pd.read_csv('supermarket_data.csv', encoding='utf-8-sig', low_memory=False)</a:t>
            </a:r>
          </a:p>
          <a:p xmlns:a="http://schemas.openxmlformats.org/drawingml/2006/main">
            <a:r>
              <a:rPr lang="en-US" sz="1200">
                <a:solidFill>
                  <a:srgbClr val="1E293B"/>
                </a:solidFill>
              </a:rPr>
              <a:t>df.columns = df.columns.str.strip()</a:t>
            </a:r>
          </a:p>
          <a:p xmlns:a="http://schemas.openxmlformats.org/drawingml/2006/main">
            <a:r>
              <a:rPr lang="en-US" sz="1200">
                <a:solidFill>
                  <a:srgbClr val="1E293B"/>
                </a:solidFill>
              </a:rPr>
              <a:t/>
            </a:r>
          </a:p>
          <a:p xmlns:a="http://schemas.openxmlformats.org/drawingml/2006/main">
            <a:r>
              <a:rPr lang="en-US" sz="1200">
                <a:solidFill>
                  <a:srgbClr val="1E293B"/>
                </a:solidFill>
              </a:rPr>
              <a:t>print(df.shape)       # (rows, columns)</a:t>
            </a:r>
          </a:p>
          <a:p xmlns:a="http://schemas.openxmlformats.org/drawingml/2006/main">
            <a:r>
              <a:rPr lang="en-US" sz="1200">
                <a:solidFill>
                  <a:srgbClr val="1E293B"/>
                </a:solidFill>
              </a:rPr>
              <a:t>print(df.dtypes)      # column types</a:t>
            </a:r>
          </a:p>
          <a:p xmlns:a="http://schemas.openxmlformats.org/drawingml/2006/main">
            <a:r>
              <a:rPr lang="en-US" sz="1200">
                <a:solidFill>
                  <a:srgbClr val="1E293B"/>
                </a:solidFill>
              </a:rPr>
              <a:t>print(df.head())      # first 5 rows</a:t>
            </a:r>
          </a:p>
        </p:txBody>
      </p:sp>
    </p:spTree>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17" name="Accent"/>
          <p:cNvSpPr txBox="1"/>
          <p:nvPr/>
        </p:nvSpPr>
        <p:spPr>
          <a:xfrm xmlns:a="http://schemas.openxmlformats.org/drawingml/2006/main">
            <a:off x="0" y="0"/>
            <a:ext cx="216000" cy="6858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018" name="Title"/>
          <p:cNvSpPr txBox="1"/>
          <p:nvPr/>
        </p:nvSpPr>
        <p:spPr>
          <a:xfrm xmlns:a="http://schemas.openxmlformats.org/drawingml/2006/main">
            <a:off x="432000" y="288000"/>
            <a:ext cx="10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000" b="1">
                <a:solidFill>
                  <a:srgbClr val="1E3A5F"/>
                </a:solidFill>
              </a:rPr>
              <a:t>Step 2 — Data Cleaning &amp; Validation</a:t>
            </a:r>
          </a:p>
        </p:txBody>
      </p:sp>
      <p:sp>
        <p:nvSpPr>
          <p:cNvPr id="100019" name="Line"/>
          <p:cNvSpPr txBox="1"/>
          <p:nvPr/>
        </p:nvSpPr>
        <p:spPr>
          <a:xfrm xmlns:a="http://schemas.openxmlformats.org/drawingml/2006/main">
            <a:off x="432000" y="864000"/>
            <a:ext cx="10080000" cy="216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020" name="C1"/>
          <p:cNvSpPr txBox="1"/>
          <p:nvPr/>
        </p:nvSpPr>
        <p:spPr>
          <a:xfrm xmlns:a="http://schemas.openxmlformats.org/drawingml/2006/main">
            <a:off x="432000" y="1008000"/>
            <a:ext cx="1872000" cy="1080000"/>
          </a:xfrm>
          <a:prstGeom xmlns:a="http://schemas.openxmlformats.org/drawingml/2006/main" prst="rect">
            <a:avLst/>
          </a:prstGeom>
          <a:solidFill xmlns:a="http://schemas.openxmlformats.org/drawingml/2006/main">
            <a:srgbClr val="F0FDF4"/>
          </a:solidFill>
        </p:spPr>
        <p:txBody>
          <a:bodyPr xmlns:a="http://schemas.openxmlformats.org/drawingml/2006/main"/>
          <a:lstStyle xmlns:a="http://schemas.openxmlformats.org/drawingml/2006/main"/>
          <a:p xmlns:a="http://schemas.openxmlformats.org/drawingml/2006/main">
            <a:r>
              <a:rPr lang="en-US" sz="1300">
                <a:solidFill>
                  <a:srgbClr val="14532D"/>
                </a:solidFill>
              </a:rPr>
              <a:t>✅  Step 1</a:t>
            </a:r>
          </a:p>
          <a:p xmlns:a="http://schemas.openxmlformats.org/drawingml/2006/main">
            <a:r>
              <a:rPr lang="en-US" sz="1300">
                <a:solidFill>
                  <a:srgbClr val="14532D"/>
                </a:solidFill>
              </a:rPr>
              <a:t>Strip whitespace</a:t>
            </a:r>
          </a:p>
          <a:p xmlns:a="http://schemas.openxmlformats.org/drawingml/2006/main">
            <a:r>
              <a:rPr lang="en-US" sz="1300">
                <a:solidFill>
                  <a:srgbClr val="14532D"/>
                </a:solidFill>
              </a:rPr>
              <a:t>from all string cells</a:t>
            </a:r>
          </a:p>
        </p:txBody>
      </p:sp>
      <p:sp>
        <p:nvSpPr>
          <p:cNvPr id="100021" name="C2"/>
          <p:cNvSpPr txBox="1"/>
          <p:nvPr/>
        </p:nvSpPr>
        <p:spPr>
          <a:xfrm xmlns:a="http://schemas.openxmlformats.org/drawingml/2006/main">
            <a:off x="2412000" y="1008000"/>
            <a:ext cx="1872000" cy="1080000"/>
          </a:xfrm>
          <a:prstGeom xmlns:a="http://schemas.openxmlformats.org/drawingml/2006/main" prst="rect">
            <a:avLst/>
          </a:prstGeom>
          <a:solidFill xmlns:a="http://schemas.openxmlformats.org/drawingml/2006/main">
            <a:srgbClr val="F0FDF4"/>
          </a:solidFill>
        </p:spPr>
        <p:txBody>
          <a:bodyPr xmlns:a="http://schemas.openxmlformats.org/drawingml/2006/main"/>
          <a:lstStyle xmlns:a="http://schemas.openxmlformats.org/drawingml/2006/main"/>
          <a:p xmlns:a="http://schemas.openxmlformats.org/drawingml/2006/main">
            <a:r>
              <a:rPr lang="en-US" sz="1300">
                <a:solidFill>
                  <a:srgbClr val="14532D"/>
                </a:solidFill>
              </a:rPr>
              <a:t>✅  Step 2</a:t>
            </a:r>
          </a:p>
          <a:p xmlns:a="http://schemas.openxmlformats.org/drawingml/2006/main">
            <a:r>
              <a:rPr lang="en-US" sz="1300">
                <a:solidFill>
                  <a:srgbClr val="14532D"/>
                </a:solidFill>
              </a:rPr>
              <a:t>Detect &amp; log</a:t>
            </a:r>
          </a:p>
          <a:p xmlns:a="http://schemas.openxmlformats.org/drawingml/2006/main">
            <a:r>
              <a:rPr lang="en-US" sz="1300">
                <a:solidFill>
                  <a:srgbClr val="14532D"/>
                </a:solidFill>
              </a:rPr>
              <a:t>missing values</a:t>
            </a:r>
          </a:p>
        </p:txBody>
      </p:sp>
      <p:sp>
        <p:nvSpPr>
          <p:cNvPr id="100022" name="C3"/>
          <p:cNvSpPr txBox="1"/>
          <p:nvPr/>
        </p:nvSpPr>
        <p:spPr>
          <a:xfrm xmlns:a="http://schemas.openxmlformats.org/drawingml/2006/main">
            <a:off x="4392000" y="1008000"/>
            <a:ext cx="1872000" cy="1080000"/>
          </a:xfrm>
          <a:prstGeom xmlns:a="http://schemas.openxmlformats.org/drawingml/2006/main" prst="rect">
            <a:avLst/>
          </a:prstGeom>
          <a:solidFill xmlns:a="http://schemas.openxmlformats.org/drawingml/2006/main">
            <a:srgbClr val="F0FDF4"/>
          </a:solidFill>
        </p:spPr>
        <p:txBody>
          <a:bodyPr xmlns:a="http://schemas.openxmlformats.org/drawingml/2006/main"/>
          <a:lstStyle xmlns:a="http://schemas.openxmlformats.org/drawingml/2006/main"/>
          <a:p xmlns:a="http://schemas.openxmlformats.org/drawingml/2006/main">
            <a:r>
              <a:rPr lang="en-US" sz="1300">
                <a:solidFill>
                  <a:srgbClr val="14532D"/>
                </a:solidFill>
              </a:rPr>
              <a:t>✅  Step 3</a:t>
            </a:r>
          </a:p>
          <a:p xmlns:a="http://schemas.openxmlformats.org/drawingml/2006/main">
            <a:r>
              <a:rPr lang="en-US" sz="1300">
                <a:solidFill>
                  <a:srgbClr val="14532D"/>
                </a:solidFill>
              </a:rPr>
              <a:t>Drop rows with</a:t>
            </a:r>
          </a:p>
          <a:p xmlns:a="http://schemas.openxmlformats.org/drawingml/2006/main">
            <a:r>
              <a:rPr lang="en-US" sz="1300">
                <a:solidFill>
                  <a:srgbClr val="14532D"/>
                </a:solidFill>
              </a:rPr>
              <a:t>NULL / NaN values</a:t>
            </a:r>
          </a:p>
        </p:txBody>
      </p:sp>
      <p:sp>
        <p:nvSpPr>
          <p:cNvPr id="100023" name="C4"/>
          <p:cNvSpPr txBox="1"/>
          <p:nvPr/>
        </p:nvSpPr>
        <p:spPr>
          <a:xfrm xmlns:a="http://schemas.openxmlformats.org/drawingml/2006/main">
            <a:off x="6372000" y="1008000"/>
            <a:ext cx="1872000" cy="1080000"/>
          </a:xfrm>
          <a:prstGeom xmlns:a="http://schemas.openxmlformats.org/drawingml/2006/main" prst="rect">
            <a:avLst/>
          </a:prstGeom>
          <a:solidFill xmlns:a="http://schemas.openxmlformats.org/drawingml/2006/main">
            <a:srgbClr val="F0FDF4"/>
          </a:solidFill>
        </p:spPr>
        <p:txBody>
          <a:bodyPr xmlns:a="http://schemas.openxmlformats.org/drawingml/2006/main"/>
          <a:lstStyle xmlns:a="http://schemas.openxmlformats.org/drawingml/2006/main"/>
          <a:p xmlns:a="http://schemas.openxmlformats.org/drawingml/2006/main">
            <a:r>
              <a:rPr lang="en-US" sz="1300">
                <a:solidFill>
                  <a:srgbClr val="14532D"/>
                </a:solidFill>
              </a:rPr>
              <a:t>✅  Step 4</a:t>
            </a:r>
          </a:p>
          <a:p xmlns:a="http://schemas.openxmlformats.org/drawingml/2006/main">
            <a:r>
              <a:rPr lang="en-US" sz="1300">
                <a:solidFill>
                  <a:srgbClr val="14532D"/>
                </a:solidFill>
              </a:rPr>
              <a:t>Remove duplicate</a:t>
            </a:r>
          </a:p>
          <a:p xmlns:a="http://schemas.openxmlformats.org/drawingml/2006/main">
            <a:r>
              <a:rPr lang="en-US" sz="1300">
                <a:solidFill>
                  <a:srgbClr val="14532D"/>
                </a:solidFill>
              </a:rPr>
              <a:t>Invoice+StockCode rows</a:t>
            </a:r>
          </a:p>
        </p:txBody>
      </p:sp>
      <p:sp>
        <p:nvSpPr>
          <p:cNvPr id="100024" name="C5"/>
          <p:cNvSpPr txBox="1"/>
          <p:nvPr/>
        </p:nvSpPr>
        <p:spPr>
          <a:xfrm xmlns:a="http://schemas.openxmlformats.org/drawingml/2006/main">
            <a:off x="8352000" y="1008000"/>
            <a:ext cx="2088000" cy="1080000"/>
          </a:xfrm>
          <a:prstGeom xmlns:a="http://schemas.openxmlformats.org/drawingml/2006/main" prst="rect">
            <a:avLst/>
          </a:prstGeom>
          <a:solidFill xmlns:a="http://schemas.openxmlformats.org/drawingml/2006/main">
            <a:srgbClr val="F0FDF4"/>
          </a:solidFill>
        </p:spPr>
        <p:txBody>
          <a:bodyPr xmlns:a="http://schemas.openxmlformats.org/drawingml/2006/main"/>
          <a:lstStyle xmlns:a="http://schemas.openxmlformats.org/drawingml/2006/main"/>
          <a:p xmlns:a="http://schemas.openxmlformats.org/drawingml/2006/main">
            <a:r>
              <a:rPr lang="en-US" sz="1300">
                <a:solidFill>
                  <a:srgbClr val="14532D"/>
                </a:solidFill>
              </a:rPr>
              <a:t>✅  Step 5</a:t>
            </a:r>
          </a:p>
          <a:p xmlns:a="http://schemas.openxmlformats.org/drawingml/2006/main">
            <a:r>
              <a:rPr lang="en-US" sz="1300">
                <a:solidFill>
                  <a:srgbClr val="14532D"/>
                </a:solidFill>
              </a:rPr>
              <a:t>Parse InvoiceDate,</a:t>
            </a:r>
          </a:p>
          <a:p xmlns:a="http://schemas.openxmlformats.org/drawingml/2006/main">
            <a:r>
              <a:rPr lang="en-US" sz="1300">
                <a:solidFill>
                  <a:srgbClr val="14532D"/>
                </a:solidFill>
              </a:rPr>
              <a:t>drop bad dates</a:t>
            </a:r>
          </a:p>
        </p:txBody>
      </p:sp>
      <p:sp>
        <p:nvSpPr>
          <p:cNvPr id="100025" name="C6"/>
          <p:cNvSpPr txBox="1"/>
          <p:nvPr/>
        </p:nvSpPr>
        <p:spPr>
          <a:xfrm xmlns:a="http://schemas.openxmlformats.org/drawingml/2006/main">
            <a:off x="432000" y="2232000"/>
            <a:ext cx="2880000" cy="1008000"/>
          </a:xfrm>
          <a:prstGeom xmlns:a="http://schemas.openxmlformats.org/drawingml/2006/main" prst="rect">
            <a:avLst/>
          </a:prstGeom>
          <a:solidFill xmlns:a="http://schemas.openxmlformats.org/drawingml/2006/main">
            <a:srgbClr val="F0FDF4"/>
          </a:solidFill>
        </p:spPr>
        <p:txBody>
          <a:bodyPr xmlns:a="http://schemas.openxmlformats.org/drawingml/2006/main"/>
          <a:lstStyle xmlns:a="http://schemas.openxmlformats.org/drawingml/2006/main"/>
          <a:p xmlns:a="http://schemas.openxmlformats.org/drawingml/2006/main">
            <a:r>
              <a:rPr lang="en-US" sz="1300">
                <a:solidFill>
                  <a:srgbClr val="14532D"/>
                </a:solidFill>
              </a:rPr>
              <a:t>✅  Step 6</a:t>
            </a:r>
          </a:p>
          <a:p xmlns:a="http://schemas.openxmlformats.org/drawingml/2006/main">
            <a:r>
              <a:rPr lang="en-US" sz="1300">
                <a:solidFill>
                  <a:srgbClr val="14532D"/>
                </a:solidFill>
              </a:rPr>
              <a:t>Coerce Quantity &amp; Price</a:t>
            </a:r>
          </a:p>
          <a:p xmlns:a="http://schemas.openxmlformats.org/drawingml/2006/main">
            <a:r>
              <a:rPr lang="en-US" sz="1300">
                <a:solidFill>
                  <a:srgbClr val="14532D"/>
                </a:solidFill>
              </a:rPr>
              <a:t>to numeric, drop errors</a:t>
            </a:r>
          </a:p>
        </p:txBody>
      </p:sp>
      <p:sp>
        <p:nvSpPr>
          <p:cNvPr id="100026" name="C7"/>
          <p:cNvSpPr txBox="1"/>
          <p:nvPr/>
        </p:nvSpPr>
        <p:spPr>
          <a:xfrm xmlns:a="http://schemas.openxmlformats.org/drawingml/2006/main">
            <a:off x="3420000" y="2232000"/>
            <a:ext cx="2880000" cy="1008000"/>
          </a:xfrm>
          <a:prstGeom xmlns:a="http://schemas.openxmlformats.org/drawingml/2006/main" prst="rect">
            <a:avLst/>
          </a:prstGeom>
          <a:solidFill xmlns:a="http://schemas.openxmlformats.org/drawingml/2006/main">
            <a:srgbClr val="F0FDF4"/>
          </a:solidFill>
        </p:spPr>
        <p:txBody>
          <a:bodyPr xmlns:a="http://schemas.openxmlformats.org/drawingml/2006/main"/>
          <a:lstStyle xmlns:a="http://schemas.openxmlformats.org/drawingml/2006/main"/>
          <a:p xmlns:a="http://schemas.openxmlformats.org/drawingml/2006/main">
            <a:r>
              <a:rPr lang="en-US" sz="1300">
                <a:solidFill>
                  <a:srgbClr val="14532D"/>
                </a:solidFill>
              </a:rPr>
              <a:t>✅  Step 7</a:t>
            </a:r>
          </a:p>
          <a:p xmlns:a="http://schemas.openxmlformats.org/drawingml/2006/main">
            <a:r>
              <a:rPr lang="en-US" sz="1300">
                <a:solidFill>
                  <a:srgbClr val="14532D"/>
                </a:solidFill>
              </a:rPr>
              <a:t>Remove rows where</a:t>
            </a:r>
          </a:p>
          <a:p xmlns:a="http://schemas.openxmlformats.org/drawingml/2006/main">
            <a:r>
              <a:rPr lang="en-US" sz="1300">
                <a:solidFill>
                  <a:srgbClr val="14532D"/>
                </a:solidFill>
              </a:rPr>
              <a:t>Quantity ≤ 0 or Price ≤ 0</a:t>
            </a:r>
          </a:p>
        </p:txBody>
      </p:sp>
      <p:sp>
        <p:nvSpPr>
          <p:cNvPr id="100027" name="C8"/>
          <p:cNvSpPr txBox="1"/>
          <p:nvPr/>
        </p:nvSpPr>
        <p:spPr>
          <a:xfrm xmlns:a="http://schemas.openxmlformats.org/drawingml/2006/main">
            <a:off x="6480000" y="2232000"/>
            <a:ext cx="3960000" cy="1008000"/>
          </a:xfrm>
          <a:prstGeom xmlns:a="http://schemas.openxmlformats.org/drawingml/2006/main" prst="rect">
            <a:avLst/>
          </a:prstGeom>
          <a:solidFill xmlns:a="http://schemas.openxmlformats.org/drawingml/2006/main">
            <a:srgbClr val="F0FDF4"/>
          </a:solidFill>
        </p:spPr>
        <p:txBody>
          <a:bodyPr xmlns:a="http://schemas.openxmlformats.org/drawingml/2006/main"/>
          <a:lstStyle xmlns:a="http://schemas.openxmlformats.org/drawingml/2006/main"/>
          <a:p xmlns:a="http://schemas.openxmlformats.org/drawingml/2006/main">
            <a:r>
              <a:rPr lang="en-US" sz="1300">
                <a:solidFill>
                  <a:srgbClr val="14532D"/>
                </a:solidFill>
              </a:rPr>
              <a:t>✅  Step 8</a:t>
            </a:r>
          </a:p>
          <a:p xmlns:a="http://schemas.openxmlformats.org/drawingml/2006/main">
            <a:r>
              <a:rPr lang="en-US" sz="1300">
                <a:solidFill>
                  <a:srgbClr val="14532D"/>
                </a:solidFill>
              </a:rPr>
              <a:t>Generate cleaning report</a:t>
            </a:r>
          </a:p>
          <a:p xmlns:a="http://schemas.openxmlformats.org/drawingml/2006/main">
            <a:r>
              <a:rPr lang="en-US" sz="1300">
                <a:solidFill>
                  <a:srgbClr val="14532D"/>
                </a:solidFill>
              </a:rPr>
              <a:t>(counts per check)</a:t>
            </a:r>
          </a:p>
        </p:txBody>
      </p:sp>
      <p:sp>
        <p:nvSpPr>
          <p:cNvPr id="100028" name="Result"/>
          <p:cNvSpPr txBox="1"/>
          <p:nvPr/>
        </p:nvSpPr>
        <p:spPr>
          <a:xfrm xmlns:a="http://schemas.openxmlformats.org/drawingml/2006/main">
            <a:off x="432000" y="3384000"/>
            <a:ext cx="10008000" cy="2088000"/>
          </a:xfrm>
          <a:prstGeom xmlns:a="http://schemas.openxmlformats.org/drawingml/2006/main" prst="rect">
            <a:avLst/>
          </a:prstGeom>
          <a:solidFill xmlns:a="http://schemas.openxmlformats.org/drawingml/2006/main">
            <a:srgbClr val="FFFBEB"/>
          </a:solidFill>
        </p:spPr>
        <p:txBody>
          <a:bodyPr xmlns:a="http://schemas.openxmlformats.org/drawingml/2006/main"/>
          <a:lstStyle xmlns:a="http://schemas.openxmlformats.org/drawingml/2006/main"/>
          <a:p xmlns:a="http://schemas.openxmlformats.org/drawingml/2006/main">
            <a:r>
              <a:rPr lang="en-US" sz="1300">
                <a:solidFill>
                  <a:srgbClr val="1E293B"/>
                </a:solidFill>
              </a:rPr>
              <a:t>Cleaning Result Summary</a:t>
            </a:r>
          </a:p>
          <a:p xmlns:a="http://schemas.openxmlformats.org/drawingml/2006/main">
            <a:r>
              <a:rPr lang="en-US" sz="1300">
                <a:solidFill>
                  <a:srgbClr val="1E293B"/>
                </a:solidFill>
              </a:rPr>
              <a:t/>
            </a:r>
          </a:p>
          <a:p xmlns:a="http://schemas.openxmlformats.org/drawingml/2006/main">
            <a:r>
              <a:rPr lang="en-US" sz="1300">
                <a:solidFill>
                  <a:srgbClr val="1E293B"/>
                </a:solidFill>
              </a:rPr>
              <a:t>  Missing values detected in Customer ID column (guest checkouts — normal business behaviour)</a:t>
            </a:r>
          </a:p>
          <a:p xmlns:a="http://schemas.openxmlformats.org/drawingml/2006/main">
            <a:r>
              <a:rPr lang="en-US" sz="1300">
                <a:solidFill>
                  <a:srgbClr val="1E293B"/>
                </a:solidFill>
              </a:rPr>
              <a:t>  Duplicate Invoice + StockCode combinations removed to prevent double-counting</a:t>
            </a:r>
          </a:p>
          <a:p xmlns:a="http://schemas.openxmlformats.org/drawingml/2006/main">
            <a:r>
              <a:rPr lang="en-US" sz="1300">
                <a:solidFill>
                  <a:srgbClr val="1E293B"/>
                </a:solidFill>
              </a:rPr>
              <a:t>  Negative / zero Quantity rows removed (these represent returns/cancellations, excluded from sales analysis)</a:t>
            </a:r>
          </a:p>
          <a:p xmlns:a="http://schemas.openxmlformats.org/drawingml/2006/main">
            <a:r>
              <a:rPr lang="en-US" sz="1300">
                <a:solidFill>
                  <a:srgbClr val="1E293B"/>
                </a:solidFill>
              </a:rPr>
              <a:t>  Negative / zero Price rows removed (free samples or data errors, excluded)</a:t>
            </a:r>
          </a:p>
          <a:p xmlns:a="http://schemas.openxmlformats.org/drawingml/2006/main">
            <a:r>
              <a:rPr lang="en-US" sz="1300">
                <a:solidFill>
                  <a:srgbClr val="1E293B"/>
                </a:solidFill>
              </a:rPr>
              <a:t>  All dates successfully parsed to datetime format after cleaning</a:t>
            </a:r>
          </a:p>
          <a:p xmlns:a="http://schemas.openxmlformats.org/drawingml/2006/main">
            <a:r>
              <a:rPr lang="en-US" sz="1300">
                <a:solidFill>
                  <a:srgbClr val="1E293B"/>
                </a:solidFill>
              </a:rPr>
              <a:t>  Final clean dataset retained for all analysis steps</a:t>
            </a:r>
          </a:p>
        </p:txBody>
      </p:sp>
    </p:spTree>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29" name="Accent"/>
          <p:cNvSpPr txBox="1"/>
          <p:nvPr/>
        </p:nvSpPr>
        <p:spPr>
          <a:xfrm xmlns:a="http://schemas.openxmlformats.org/drawingml/2006/main">
            <a:off x="0" y="0"/>
            <a:ext cx="216000" cy="6858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030" name="Title"/>
          <p:cNvSpPr txBox="1"/>
          <p:nvPr/>
        </p:nvSpPr>
        <p:spPr>
          <a:xfrm xmlns:a="http://schemas.openxmlformats.org/drawingml/2006/main">
            <a:off x="432000" y="288000"/>
            <a:ext cx="10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000" b="1">
                <a:solidFill>
                  <a:srgbClr val="1E3A5F"/>
                </a:solidFill>
              </a:rPr>
              <a:t>Step 3 — Sales Formula Calculation</a:t>
            </a:r>
          </a:p>
        </p:txBody>
      </p:sp>
      <p:sp>
        <p:nvSpPr>
          <p:cNvPr id="100031" name="Line"/>
          <p:cNvSpPr txBox="1"/>
          <p:nvPr/>
        </p:nvSpPr>
        <p:spPr>
          <a:xfrm xmlns:a="http://schemas.openxmlformats.org/drawingml/2006/main">
            <a:off x="432000" y="864000"/>
            <a:ext cx="10080000" cy="216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032" name="Formula"/>
          <p:cNvSpPr txBox="1"/>
          <p:nvPr/>
        </p:nvSpPr>
        <p:spPr>
          <a:xfrm xmlns:a="http://schemas.openxmlformats.org/drawingml/2006/main">
            <a:off x="1080000" y="1080000"/>
            <a:ext cx="9720000" cy="792000"/>
          </a:xfrm>
          <a:prstGeom xmlns:a="http://schemas.openxmlformats.org/drawingml/2006/main" prst="rect">
            <a:avLst/>
          </a:prstGeom>
          <a:solidFill xmlns:a="http://schemas.openxmlformats.org/drawingml/2006/main">
            <a:srgbClr val="EFF6FF"/>
          </a:solidFill>
        </p:spPr>
        <p:txBody>
          <a:bodyPr xmlns:a="http://schemas.openxmlformats.org/drawingml/2006/main"/>
          <a:lstStyle xmlns:a="http://schemas.openxmlformats.org/drawingml/2006/main"/>
          <a:p xmlns:a="http://schemas.openxmlformats.org/drawingml/2006/main">
            <a:pPr algn="ctr"/>
            <a:r>
              <a:rPr lang="en-US" sz="3600" b="1">
                <a:solidFill>
                  <a:srgbClr val="1E3A5F"/>
                </a:solidFill>
              </a:rPr>
              <a:t>Sales  =  Quantity  ×  Price</a:t>
            </a:r>
          </a:p>
        </p:txBody>
      </p:sp>
      <p:sp>
        <p:nvSpPr>
          <p:cNvPr id="100033" name="Explain"/>
          <p:cNvSpPr txBox="1"/>
          <p:nvPr/>
        </p:nvSpPr>
        <p:spPr>
          <a:xfrm xmlns:a="http://schemas.openxmlformats.org/drawingml/2006/main">
            <a:off x="432000" y="2016000"/>
            <a:ext cx="10008000" cy="100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a:solidFill>
                  <a:srgbClr val="1E293B"/>
                </a:solidFill>
              </a:rPr>
              <a:t>Each row in the dataset represents one line item on an invoice. The Sales column was created by multiplying Quantity (number of units bought) by Price (unit selling price in GBP). This gives the revenue contribution of each individual product line on each transaction.</a:t>
            </a:r>
          </a:p>
        </p:txBody>
      </p:sp>
      <p:sp>
        <p:nvSpPr>
          <p:cNvPr id="100034" name="SampleHdr"/>
          <p:cNvSpPr txBox="1"/>
          <p:nvPr/>
        </p:nvSpPr>
        <p:spPr>
          <a:xfrm xmlns:a="http://schemas.openxmlformats.org/drawingml/2006/main">
            <a:off x="432000" y="3132000"/>
            <a:ext cx="10008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b="1">
                <a:solidFill>
                  <a:srgbClr val="1E3A5F"/>
                </a:solidFill>
              </a:rPr>
              <a:t>Sample Rows (after formula applied)</a:t>
            </a:r>
          </a:p>
        </p:txBody>
      </p:sp>
      <p:sp>
        <p:nvSpPr>
          <p:cNvPr id="100035" name="TableHdr"/>
          <p:cNvSpPr txBox="1"/>
          <p:nvPr/>
        </p:nvSpPr>
        <p:spPr>
          <a:xfrm xmlns:a="http://schemas.openxmlformats.org/drawingml/2006/main">
            <a:off x="432000" y="3420000"/>
            <a:ext cx="10008000" cy="288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200" b="1">
                <a:solidFill>
                  <a:srgbClr val="FFFFFF"/>
                </a:solidFill>
              </a:rPr>
              <a:t>Invoice       StockCode    Description                                  Qty    Price (£)    Sales (£)</a:t>
            </a:r>
          </a:p>
        </p:txBody>
      </p:sp>
      <p:sp>
        <p:nvSpPr>
          <p:cNvPr id="100036" name="R1"/>
          <p:cNvSpPr txBox="1"/>
          <p:nvPr/>
        </p:nvSpPr>
        <p:spPr>
          <a:xfrm xmlns:a="http://schemas.openxmlformats.org/drawingml/2006/main">
            <a:off x="432000" y="3726000"/>
            <a:ext cx="10008000" cy="252000"/>
          </a:xfrm>
          <a:prstGeom xmlns:a="http://schemas.openxmlformats.org/drawingml/2006/main" prst="rect">
            <a:avLst/>
          </a:prstGeom>
          <a:solidFill xmlns:a="http://schemas.openxmlformats.org/drawingml/2006/main">
            <a:srgbClr val="F8FAFC"/>
          </a:solidFill>
        </p:spPr>
        <p:txBody>
          <a:bodyPr xmlns:a="http://schemas.openxmlformats.org/drawingml/2006/main"/>
          <a:lstStyle xmlns:a="http://schemas.openxmlformats.org/drawingml/2006/main"/>
          <a:p xmlns:a="http://schemas.openxmlformats.org/drawingml/2006/main">
            <a:r>
              <a:rPr lang="en-US" sz="1200">
                <a:solidFill>
                  <a:srgbClr val="1E293B"/>
                </a:solidFill>
              </a:rPr>
              <a:t>536365       85123A       WHITE HANGING HEART T-LIGHT HOLDER     6       2.55          15.30</a:t>
            </a:r>
          </a:p>
        </p:txBody>
      </p:sp>
      <p:sp>
        <p:nvSpPr>
          <p:cNvPr id="100037" name="R2"/>
          <p:cNvSpPr txBox="1"/>
          <p:nvPr/>
        </p:nvSpPr>
        <p:spPr>
          <a:xfrm xmlns:a="http://schemas.openxmlformats.org/drawingml/2006/main">
            <a:off x="432000" y="3996000"/>
            <a:ext cx="10008000" cy="252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a:r>
              <a:rPr lang="en-US" sz="1200">
                <a:solidFill>
                  <a:srgbClr val="1E293B"/>
                </a:solidFill>
              </a:rPr>
              <a:t>536365       71053          WHITE METAL LANTERN                          6       3.39          20.34</a:t>
            </a:r>
          </a:p>
        </p:txBody>
      </p:sp>
      <p:sp>
        <p:nvSpPr>
          <p:cNvPr id="100038" name="R3"/>
          <p:cNvSpPr txBox="1"/>
          <p:nvPr/>
        </p:nvSpPr>
        <p:spPr>
          <a:xfrm xmlns:a="http://schemas.openxmlformats.org/drawingml/2006/main">
            <a:off x="432000" y="4266000"/>
            <a:ext cx="10008000" cy="252000"/>
          </a:xfrm>
          <a:prstGeom xmlns:a="http://schemas.openxmlformats.org/drawingml/2006/main" prst="rect">
            <a:avLst/>
          </a:prstGeom>
          <a:solidFill xmlns:a="http://schemas.openxmlformats.org/drawingml/2006/main">
            <a:srgbClr val="F8FAFC"/>
          </a:solidFill>
        </p:spPr>
        <p:txBody>
          <a:bodyPr xmlns:a="http://schemas.openxmlformats.org/drawingml/2006/main"/>
          <a:lstStyle xmlns:a="http://schemas.openxmlformats.org/drawingml/2006/main"/>
          <a:p xmlns:a="http://schemas.openxmlformats.org/drawingml/2006/main">
            <a:r>
              <a:rPr lang="en-US" sz="1200">
                <a:solidFill>
                  <a:srgbClr val="1E293B"/>
                </a:solidFill>
              </a:rPr>
              <a:t>536365       84406B       CREAM CUPID HEARTS COAT HANGER          8       2.75          22.00</a:t>
            </a:r>
          </a:p>
        </p:txBody>
      </p:sp>
      <p:sp>
        <p:nvSpPr>
          <p:cNvPr id="100039" name="R4"/>
          <p:cNvSpPr txBox="1"/>
          <p:nvPr/>
        </p:nvSpPr>
        <p:spPr>
          <a:xfrm xmlns:a="http://schemas.openxmlformats.org/drawingml/2006/main">
            <a:off x="432000" y="4536000"/>
            <a:ext cx="10008000" cy="252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a:r>
              <a:rPr lang="en-US" sz="1200">
                <a:solidFill>
                  <a:srgbClr val="1E293B"/>
                </a:solidFill>
              </a:rPr>
              <a:t>536365       84029G       KNITTED UNION FLAG HOT WATER BOTTLE   6       3.39          20.34</a:t>
            </a:r>
          </a:p>
        </p:txBody>
      </p:sp>
      <p:sp>
        <p:nvSpPr>
          <p:cNvPr id="100040" name="Note"/>
          <p:cNvSpPr txBox="1"/>
          <p:nvPr/>
        </p:nvSpPr>
        <p:spPr>
          <a:xfrm xmlns:a="http://schemas.openxmlformats.org/drawingml/2006/main">
            <a:off x="432000" y="4968000"/>
            <a:ext cx="10008000" cy="648000"/>
          </a:xfrm>
          <a:prstGeom xmlns:a="http://schemas.openxmlformats.org/drawingml/2006/main" prst="rect">
            <a:avLst/>
          </a:prstGeom>
          <a:solidFill xmlns:a="http://schemas.openxmlformats.org/drawingml/2006/main">
            <a:srgbClr val="FFFBEB"/>
          </a:solidFill>
        </p:spPr>
        <p:txBody>
          <a:bodyPr xmlns:a="http://schemas.openxmlformats.org/drawingml/2006/main"/>
          <a:lstStyle xmlns:a="http://schemas.openxmlformats.org/drawingml/2006/main"/>
          <a:p xmlns:a="http://schemas.openxmlformats.org/drawingml/2006/main">
            <a:r>
              <a:rPr lang="en-US" sz="1300">
                <a:solidFill>
                  <a:srgbClr val="78350F"/>
                </a:solidFill>
              </a:rPr>
              <a:t>💡  Invoice-level totals are computed by summing all Sales rows sharing the same Invoice number.  The average invoice value is then used as a key KPI for upsell analysis.</a:t>
            </a:r>
          </a:p>
        </p:txBody>
      </p:sp>
    </p:spTree>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41" name="Accent"/>
          <p:cNvSpPr txBox="1"/>
          <p:nvPr/>
        </p:nvSpPr>
        <p:spPr>
          <a:xfrm xmlns:a="http://schemas.openxmlformats.org/drawingml/2006/main">
            <a:off x="0" y="0"/>
            <a:ext cx="216000" cy="6858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042" name="Title"/>
          <p:cNvSpPr txBox="1"/>
          <p:nvPr/>
        </p:nvSpPr>
        <p:spPr>
          <a:xfrm xmlns:a="http://schemas.openxmlformats.org/drawingml/2006/main">
            <a:off x="432000" y="288000"/>
            <a:ext cx="10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000" b="1">
                <a:solidFill>
                  <a:srgbClr val="1E3A5F"/>
                </a:solidFill>
              </a:rPr>
              <a:t>Step 4 — Grouping &amp; Summary Statistics</a:t>
            </a:r>
          </a:p>
        </p:txBody>
      </p:sp>
      <p:sp>
        <p:nvSpPr>
          <p:cNvPr id="100043" name="Line"/>
          <p:cNvSpPr txBox="1"/>
          <p:nvPr/>
        </p:nvSpPr>
        <p:spPr>
          <a:xfrm xmlns:a="http://schemas.openxmlformats.org/drawingml/2006/main">
            <a:off x="432000" y="864000"/>
            <a:ext cx="10080000" cy="216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044" name="K1"/>
          <p:cNvSpPr txBox="1"/>
          <p:nvPr/>
        </p:nvSpPr>
        <p:spPr>
          <a:xfrm xmlns:a="http://schemas.openxmlformats.org/drawingml/2006/main">
            <a:off x="432000" y="1008000"/>
            <a:ext cx="2340000" cy="720000"/>
          </a:xfrm>
          <a:prstGeom xmlns:a="http://schemas.openxmlformats.org/drawingml/2006/main" prst="rect">
            <a:avLst/>
          </a:prstGeom>
          <a:solidFill xmlns:a="http://schemas.openxmlformats.org/drawingml/2006/main">
            <a:srgbClr val="EFF6FF"/>
          </a:solidFill>
        </p:spPr>
        <p:txBody>
          <a:bodyPr xmlns:a="http://schemas.openxmlformats.org/drawingml/2006/main"/>
          <a:lstStyle xmlns:a="http://schemas.openxmlformats.org/drawingml/2006/main"/>
          <a:p xmlns:a="http://schemas.openxmlformats.org/drawingml/2006/main">
            <a:pPr algn="ctr"/>
            <a:r>
              <a:rPr lang="en-US" sz="1400" b="0">
                <a:solidFill>
                  <a:srgbClr val="1E3A5F"/>
                </a:solidFill>
              </a:rPr>
              <a:t>Total Line Items</a:t>
            </a:r>
          </a:p>
          <a:p xmlns:a="http://schemas.openxmlformats.org/drawingml/2006/main">
            <a:pPr algn="ctr"/>
            <a:r>
              <a:rPr lang="en-US" sz="1400" b="0">
                <a:solidFill>
                  <a:srgbClr val="1E3A5F"/>
                </a:solidFill>
              </a:rPr>
              <a:t>400,000+</a:t>
            </a:r>
          </a:p>
        </p:txBody>
      </p:sp>
      <p:sp>
        <p:nvSpPr>
          <p:cNvPr id="100045" name="K2"/>
          <p:cNvSpPr txBox="1"/>
          <p:nvPr/>
        </p:nvSpPr>
        <p:spPr>
          <a:xfrm xmlns:a="http://schemas.openxmlformats.org/drawingml/2006/main">
            <a:off x="2916000" y="1008000"/>
            <a:ext cx="2340000" cy="720000"/>
          </a:xfrm>
          <a:prstGeom xmlns:a="http://schemas.openxmlformats.org/drawingml/2006/main" prst="rect">
            <a:avLst/>
          </a:prstGeom>
          <a:solidFill xmlns:a="http://schemas.openxmlformats.org/drawingml/2006/main">
            <a:srgbClr val="F0FDF4"/>
          </a:solidFill>
        </p:spPr>
        <p:txBody>
          <a:bodyPr xmlns:a="http://schemas.openxmlformats.org/drawingml/2006/main"/>
          <a:lstStyle xmlns:a="http://schemas.openxmlformats.org/drawingml/2006/main"/>
          <a:p xmlns:a="http://schemas.openxmlformats.org/drawingml/2006/main">
            <a:pPr algn="ctr"/>
            <a:r>
              <a:rPr lang="en-US" sz="1400" b="0">
                <a:solidFill>
                  <a:srgbClr val="14532D"/>
                </a:solidFill>
              </a:rPr>
              <a:t>Total Sales</a:t>
            </a:r>
          </a:p>
          <a:p xmlns:a="http://schemas.openxmlformats.org/drawingml/2006/main">
            <a:pPr algn="ctr"/>
            <a:r>
              <a:rPr lang="en-US" sz="1400" b="0">
                <a:solidFill>
                  <a:srgbClr val="14532D"/>
                </a:solidFill>
              </a:rPr>
              <a:t>£8.9M+</a:t>
            </a:r>
          </a:p>
        </p:txBody>
      </p:sp>
      <p:sp>
        <p:nvSpPr>
          <p:cNvPr id="100046" name="K3"/>
          <p:cNvSpPr txBox="1"/>
          <p:nvPr/>
        </p:nvSpPr>
        <p:spPr>
          <a:xfrm xmlns:a="http://schemas.openxmlformats.org/drawingml/2006/main">
            <a:off x="5400000" y="1008000"/>
            <a:ext cx="2340000" cy="720000"/>
          </a:xfrm>
          <a:prstGeom xmlns:a="http://schemas.openxmlformats.org/drawingml/2006/main" prst="rect">
            <a:avLst/>
          </a:prstGeom>
          <a:solidFill xmlns:a="http://schemas.openxmlformats.org/drawingml/2006/main">
            <a:srgbClr val="FFFBEB"/>
          </a:solidFill>
        </p:spPr>
        <p:txBody>
          <a:bodyPr xmlns:a="http://schemas.openxmlformats.org/drawingml/2006/main"/>
          <a:lstStyle xmlns:a="http://schemas.openxmlformats.org/drawingml/2006/main"/>
          <a:p xmlns:a="http://schemas.openxmlformats.org/drawingml/2006/main">
            <a:pPr algn="ctr"/>
            <a:r>
              <a:rPr lang="en-US" sz="1400" b="0">
                <a:solidFill>
                  <a:srgbClr val="78350F"/>
                </a:solidFill>
              </a:rPr>
              <a:t>Unique Customers</a:t>
            </a:r>
          </a:p>
          <a:p xmlns:a="http://schemas.openxmlformats.org/drawingml/2006/main">
            <a:pPr algn="ctr"/>
            <a:r>
              <a:rPr lang="en-US" sz="1400" b="0">
                <a:solidFill>
                  <a:srgbClr val="78350F"/>
                </a:solidFill>
              </a:rPr>
              <a:t>4,300+</a:t>
            </a:r>
          </a:p>
        </p:txBody>
      </p:sp>
      <p:sp>
        <p:nvSpPr>
          <p:cNvPr id="100047" name="K4"/>
          <p:cNvSpPr txBox="1"/>
          <p:nvPr/>
        </p:nvSpPr>
        <p:spPr>
          <a:xfrm xmlns:a="http://schemas.openxmlformats.org/drawingml/2006/main">
            <a:off x="7884000" y="1008000"/>
            <a:ext cx="2556000" cy="720000"/>
          </a:xfrm>
          <a:prstGeom xmlns:a="http://schemas.openxmlformats.org/drawingml/2006/main" prst="rect">
            <a:avLst/>
          </a:prstGeom>
          <a:solidFill xmlns:a="http://schemas.openxmlformats.org/drawingml/2006/main">
            <a:srgbClr val="F1F5F9"/>
          </a:solidFill>
        </p:spPr>
        <p:txBody>
          <a:bodyPr xmlns:a="http://schemas.openxmlformats.org/drawingml/2006/main"/>
          <a:lstStyle xmlns:a="http://schemas.openxmlformats.org/drawingml/2006/main"/>
          <a:p xmlns:a="http://schemas.openxmlformats.org/drawingml/2006/main">
            <a:pPr algn="ctr"/>
            <a:r>
              <a:rPr lang="en-US" sz="1400" b="0">
                <a:solidFill>
                  <a:srgbClr val="1E293B"/>
                </a:solidFill>
              </a:rPr>
              <a:t>Countries Covered</a:t>
            </a:r>
          </a:p>
          <a:p xmlns:a="http://schemas.openxmlformats.org/drawingml/2006/main">
            <a:pPr algn="ctr"/>
            <a:r>
              <a:rPr lang="en-US" sz="1400" b="0">
                <a:solidFill>
                  <a:srgbClr val="1E293B"/>
                </a:solidFill>
              </a:rPr>
              <a:t>38</a:t>
            </a:r>
          </a:p>
        </p:txBody>
      </p:sp>
      <p:sp>
        <p:nvSpPr>
          <p:cNvPr id="100048" name="ByCountry"/>
          <p:cNvSpPr txBox="1"/>
          <p:nvPr/>
        </p:nvSpPr>
        <p:spPr>
          <a:xfrm xmlns:a="http://schemas.openxmlformats.org/drawingml/2006/main">
            <a:off x="432000" y="1908000"/>
            <a:ext cx="4680000" cy="2160000"/>
          </a:xfrm>
          <a:prstGeom xmlns:a="http://schemas.openxmlformats.org/drawingml/2006/main" prst="rect">
            <a:avLst/>
          </a:prstGeom>
          <a:solidFill xmlns:a="http://schemas.openxmlformats.org/drawingml/2006/main">
            <a:srgbClr val="F8FAFC"/>
          </a:solidFill>
        </p:spPr>
        <p:txBody>
          <a:bodyPr xmlns:a="http://schemas.openxmlformats.org/drawingml/2006/main"/>
          <a:lstStyle xmlns:a="http://schemas.openxmlformats.org/drawingml/2006/main"/>
          <a:p xmlns:a="http://schemas.openxmlformats.org/drawingml/2006/main">
            <a:r>
              <a:rPr lang="en-US" sz="1300">
                <a:solidFill>
                  <a:srgbClr val="1E293B"/>
                </a:solidFill>
              </a:rPr>
              <a:t>By Country (Top 5)</a:t>
            </a:r>
          </a:p>
          <a:p xmlns:a="http://schemas.openxmlformats.org/drawingml/2006/main">
            <a:r>
              <a:rPr lang="en-US" sz="1300">
                <a:solidFill>
                  <a:srgbClr val="1E293B"/>
                </a:solidFill>
              </a:rPr>
              <a:t/>
            </a:r>
          </a:p>
          <a:p xmlns:a="http://schemas.openxmlformats.org/drawingml/2006/main">
            <a:r>
              <a:rPr lang="en-US" sz="1300">
                <a:solidFill>
                  <a:srgbClr val="1E293B"/>
                </a:solidFill>
              </a:rPr>
              <a:t>  🇬🇧 United Kingdom   Largest market by far</a:t>
            </a:r>
          </a:p>
          <a:p xmlns:a="http://schemas.openxmlformats.org/drawingml/2006/main">
            <a:r>
              <a:rPr lang="en-US" sz="1300">
                <a:solidFill>
                  <a:srgbClr val="1E293B"/>
                </a:solidFill>
              </a:rPr>
              <a:t>  🇳🇱 Netherlands          Strong European hub</a:t>
            </a:r>
          </a:p>
          <a:p xmlns:a="http://schemas.openxmlformats.org/drawingml/2006/main">
            <a:r>
              <a:rPr lang="en-US" sz="1300">
                <a:solidFill>
                  <a:srgbClr val="1E293B"/>
                </a:solidFill>
              </a:rPr>
              <a:t>  🇮🇪 Ireland                    Consistent repeat buyers</a:t>
            </a:r>
          </a:p>
          <a:p xmlns:a="http://schemas.openxmlformats.org/drawingml/2006/main">
            <a:r>
              <a:rPr lang="en-US" sz="1300">
                <a:solidFill>
                  <a:srgbClr val="1E293B"/>
                </a:solidFill>
              </a:rPr>
              <a:t>  🇩🇪 Germany                Growing market</a:t>
            </a:r>
          </a:p>
          <a:p xmlns:a="http://schemas.openxmlformats.org/drawingml/2006/main">
            <a:r>
              <a:rPr lang="en-US" sz="1300">
                <a:solidFill>
                  <a:srgbClr val="1E293B"/>
                </a:solidFill>
              </a:rPr>
              <a:t>  🇫🇷 France                    Seasonal spikes</a:t>
            </a:r>
          </a:p>
        </p:txBody>
      </p:sp>
      <p:sp>
        <p:nvSpPr>
          <p:cNvPr id="100049" name="ByTime"/>
          <p:cNvSpPr txBox="1"/>
          <p:nvPr/>
        </p:nvSpPr>
        <p:spPr>
          <a:xfrm xmlns:a="http://schemas.openxmlformats.org/drawingml/2006/main">
            <a:off x="5328000" y="1908000"/>
            <a:ext cx="5112000" cy="2160000"/>
          </a:xfrm>
          <a:prstGeom xmlns:a="http://schemas.openxmlformats.org/drawingml/2006/main" prst="rect">
            <a:avLst/>
          </a:prstGeom>
          <a:solidFill xmlns:a="http://schemas.openxmlformats.org/drawingml/2006/main">
            <a:srgbClr val="F8FAFC"/>
          </a:solidFill>
        </p:spPr>
        <p:txBody>
          <a:bodyPr xmlns:a="http://schemas.openxmlformats.org/drawingml/2006/main"/>
          <a:lstStyle xmlns:a="http://schemas.openxmlformats.org/drawingml/2006/main"/>
          <a:p xmlns:a="http://schemas.openxmlformats.org/drawingml/2006/main">
            <a:r>
              <a:rPr lang="en-US" sz="1300">
                <a:solidFill>
                  <a:srgbClr val="1E293B"/>
                </a:solidFill>
              </a:rPr>
              <a:t>By Time Dimension</a:t>
            </a:r>
          </a:p>
          <a:p xmlns:a="http://schemas.openxmlformats.org/drawingml/2006/main">
            <a:r>
              <a:rPr lang="en-US" sz="1300">
                <a:solidFill>
                  <a:srgbClr val="1E293B"/>
                </a:solidFill>
              </a:rPr>
              <a:t/>
            </a:r>
          </a:p>
          <a:p xmlns:a="http://schemas.openxmlformats.org/drawingml/2006/main">
            <a:r>
              <a:rPr lang="en-US" sz="1300">
                <a:solidFill>
                  <a:srgbClr val="1E293B"/>
                </a:solidFill>
              </a:rPr>
              <a:t>  📅 Best month          November (holiday prep)</a:t>
            </a:r>
          </a:p>
          <a:p xmlns:a="http://schemas.openxmlformats.org/drawingml/2006/main">
            <a:r>
              <a:rPr lang="en-US" sz="1300">
                <a:solidFill>
                  <a:srgbClr val="1E293B"/>
                </a:solidFill>
              </a:rPr>
              <a:t>  📅 Weakest month    February</a:t>
            </a:r>
          </a:p>
          <a:p xmlns:a="http://schemas.openxmlformats.org/drawingml/2006/main">
            <a:r>
              <a:rPr lang="en-US" sz="1300">
                <a:solidFill>
                  <a:srgbClr val="1E293B"/>
                </a:solidFill>
              </a:rPr>
              <a:t>  📆 Busiest day         Thursday</a:t>
            </a:r>
          </a:p>
          <a:p xmlns:a="http://schemas.openxmlformats.org/drawingml/2006/main">
            <a:r>
              <a:rPr lang="en-US" sz="1300">
                <a:solidFill>
                  <a:srgbClr val="1E293B"/>
                </a:solidFill>
              </a:rPr>
              <a:t>  ⏰ Peak hour           12:00 – 13:00</a:t>
            </a:r>
          </a:p>
          <a:p xmlns:a="http://schemas.openxmlformats.org/drawingml/2006/main">
            <a:r>
              <a:rPr lang="en-US" sz="1300">
                <a:solidFill>
                  <a:srgbClr val="1E293B"/>
                </a:solidFill>
              </a:rPr>
              <a:t>  📈 Trend                   Strong Nov–Dec spike</a:t>
            </a:r>
          </a:p>
        </p:txBody>
      </p:sp>
      <p:sp>
        <p:nvSpPr>
          <p:cNvPr id="100050" name="Method"/>
          <p:cNvSpPr txBox="1"/>
          <p:nvPr/>
        </p:nvSpPr>
        <p:spPr>
          <a:xfrm xmlns:a="http://schemas.openxmlformats.org/drawingml/2006/main">
            <a:off x="432000" y="4212000"/>
            <a:ext cx="10008000" cy="324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64748B"/>
                </a:solidFill>
              </a:rPr>
              <a:t>Aggregation Methods Applied  →  SUM  ·  COUNT (nunique)  ·  MEAN  ·  MIN  ·  MAX  ·  Pivot Tables</a:t>
            </a:r>
          </a:p>
        </p:txBody>
      </p:sp>
      <p:sp>
        <p:nvSpPr>
          <p:cNvPr id="100051" name="DimList"/>
          <p:cNvSpPr txBox="1"/>
          <p:nvPr/>
        </p:nvSpPr>
        <p:spPr>
          <a:xfrm xmlns:a="http://schemas.openxmlformats.org/drawingml/2006/main">
            <a:off x="432000" y="4644000"/>
            <a:ext cx="10008000" cy="1440000"/>
          </a:xfrm>
          <a:prstGeom xmlns:a="http://schemas.openxmlformats.org/drawingml/2006/main" prst="rect">
            <a:avLst/>
          </a:prstGeom>
          <a:solidFill xmlns:a="http://schemas.openxmlformats.org/drawingml/2006/main">
            <a:srgbClr val="F1F5F9"/>
          </a:solidFill>
        </p:spPr>
        <p:txBody>
          <a:bodyPr xmlns:a="http://schemas.openxmlformats.org/drawingml/2006/main"/>
          <a:lstStyle xmlns:a="http://schemas.openxmlformats.org/drawingml/2006/main"/>
          <a:p xmlns:a="http://schemas.openxmlformats.org/drawingml/2006/main">
            <a:r>
              <a:rPr lang="en-US" sz="1300">
                <a:solidFill>
                  <a:srgbClr val="1E293B"/>
                </a:solidFill>
              </a:rPr>
              <a:t>Dimensions Analysed</a:t>
            </a:r>
          </a:p>
          <a:p xmlns:a="http://schemas.openxmlformats.org/drawingml/2006/main">
            <a:r>
              <a:rPr lang="en-US" sz="1300">
                <a:solidFill>
                  <a:srgbClr val="1E293B"/>
                </a:solidFill>
              </a:rPr>
              <a:t/>
            </a:r>
          </a:p>
          <a:p xmlns:a="http://schemas.openxmlformats.org/drawingml/2006/main">
            <a:r>
              <a:rPr lang="en-US" sz="1300">
                <a:solidFill>
                  <a:srgbClr val="1E293B"/>
                </a:solidFill>
              </a:rPr>
              <a:t>  • Country                • Top 20 Products (by Sales)</a:t>
            </a:r>
          </a:p>
          <a:p xmlns:a="http://schemas.openxmlformats.org/drawingml/2006/main">
            <a:r>
              <a:rPr lang="en-US" sz="1300">
                <a:solidFill>
                  <a:srgbClr val="1E293B"/>
                </a:solidFill>
              </a:rPr>
              <a:t>  • Top 20 Customers   • Monthly trend (Year-Month)</a:t>
            </a:r>
          </a:p>
          <a:p xmlns:a="http://schemas.openxmlformats.org/drawingml/2006/main">
            <a:r>
              <a:rPr lang="en-US" sz="1300">
                <a:solidFill>
                  <a:srgbClr val="1E293B"/>
                </a:solidFill>
              </a:rPr>
              <a:t>  • Day of week           • Hour of day</a:t>
            </a:r>
          </a:p>
          <a:p xmlns:a="http://schemas.openxmlformats.org/drawingml/2006/main">
            <a:r>
              <a:rPr lang="en-US" sz="1300">
                <a:solidFill>
                  <a:srgbClr val="1E293B"/>
                </a:solidFill>
              </a:rPr>
              <a:t>  • Country × Month pivot (heatmap)</a:t>
            </a:r>
          </a:p>
          <a:p xmlns:a="http://schemas.openxmlformats.org/drawingml/2006/main">
            <a:r>
              <a:rPr lang="en-US" sz="1300">
                <a:solidFill>
                  <a:srgbClr val="1E293B"/>
                </a:solidFill>
              </a:rPr>
              <a:t>  • Full cross-tab: Country × Product</a:t>
            </a:r>
          </a:p>
        </p:txBody>
      </p:sp>
    </p:spTree>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52" name="Accent"/>
          <p:cNvSpPr txBox="1"/>
          <p:nvPr/>
        </p:nvSpPr>
        <p:spPr>
          <a:xfrm xmlns:a="http://schemas.openxmlformats.org/drawingml/2006/main">
            <a:off x="0" y="0"/>
            <a:ext cx="216000" cy="6858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053" name="Title"/>
          <p:cNvSpPr txBox="1"/>
          <p:nvPr/>
        </p:nvSpPr>
        <p:spPr>
          <a:xfrm xmlns:a="http://schemas.openxmlformats.org/drawingml/2006/main">
            <a:off x="432000" y="288000"/>
            <a:ext cx="10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000" b="1">
                <a:solidFill>
                  <a:srgbClr val="1E3A5F"/>
                </a:solidFill>
              </a:rPr>
              <a:t>Step 5 — Charts &amp; Visual Comparisons</a:t>
            </a:r>
          </a:p>
        </p:txBody>
      </p:sp>
      <p:sp>
        <p:nvSpPr>
          <p:cNvPr id="100054" name="Line"/>
          <p:cNvSpPr txBox="1"/>
          <p:nvPr/>
        </p:nvSpPr>
        <p:spPr>
          <a:xfrm xmlns:a="http://schemas.openxmlformats.org/drawingml/2006/main">
            <a:off x="432000" y="864000"/>
            <a:ext cx="10080000" cy="216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055" name="Ch1"/>
          <p:cNvSpPr txBox="1"/>
          <p:nvPr/>
        </p:nvSpPr>
        <p:spPr>
          <a:xfrm xmlns:a="http://schemas.openxmlformats.org/drawingml/2006/main">
            <a:off x="432000" y="1044000"/>
            <a:ext cx="3060000" cy="1080000"/>
          </a:xfrm>
          <a:prstGeom xmlns:a="http://schemas.openxmlformats.org/drawingml/2006/main" prst="rect">
            <a:avLst/>
          </a:prstGeom>
          <a:solidFill xmlns:a="http://schemas.openxmlformats.org/drawingml/2006/main">
            <a:srgbClr val="EFF6FF"/>
          </a:solidFill>
        </p:spPr>
        <p:txBody>
          <a:bodyPr xmlns:a="http://schemas.openxmlformats.org/drawingml/2006/main"/>
          <a:lstStyle xmlns:a="http://schemas.openxmlformats.org/drawingml/2006/main"/>
          <a:p xmlns:a="http://schemas.openxmlformats.org/drawingml/2006/main">
            <a:r>
              <a:rPr lang="en-US" sz="1300">
                <a:solidFill>
                  <a:srgbClr val="1E3A5F"/>
                </a:solidFill>
              </a:rPr>
              <a:t>📊  Horizontal Bar</a:t>
            </a:r>
          </a:p>
          <a:p xmlns:a="http://schemas.openxmlformats.org/drawingml/2006/main">
            <a:r>
              <a:rPr lang="en-US" sz="1300">
                <a:solidFill>
                  <a:srgbClr val="1E3A5F"/>
                </a:solidFill>
              </a:rPr>
              <a:t>Top 10 Countries</a:t>
            </a:r>
          </a:p>
          <a:p xmlns:a="http://schemas.openxmlformats.org/drawingml/2006/main">
            <a:r>
              <a:rPr lang="en-US" sz="1300">
                <a:solidFill>
                  <a:srgbClr val="1E3A5F"/>
                </a:solidFill>
              </a:rPr>
              <a:t>by Total Sales</a:t>
            </a:r>
          </a:p>
        </p:txBody>
      </p:sp>
      <p:sp>
        <p:nvSpPr>
          <p:cNvPr id="100056" name="Ch2"/>
          <p:cNvSpPr txBox="1"/>
          <p:nvPr/>
        </p:nvSpPr>
        <p:spPr>
          <a:xfrm xmlns:a="http://schemas.openxmlformats.org/drawingml/2006/main">
            <a:off x="3636000" y="1044000"/>
            <a:ext cx="3060000" cy="1080000"/>
          </a:xfrm>
          <a:prstGeom xmlns:a="http://schemas.openxmlformats.org/drawingml/2006/main" prst="rect">
            <a:avLst/>
          </a:prstGeom>
          <a:solidFill xmlns:a="http://schemas.openxmlformats.org/drawingml/2006/main">
            <a:srgbClr val="EFF6FF"/>
          </a:solidFill>
        </p:spPr>
        <p:txBody>
          <a:bodyPr xmlns:a="http://schemas.openxmlformats.org/drawingml/2006/main"/>
          <a:lstStyle xmlns:a="http://schemas.openxmlformats.org/drawingml/2006/main"/>
          <a:p xmlns:a="http://schemas.openxmlformats.org/drawingml/2006/main">
            <a:r>
              <a:rPr lang="en-US" sz="1300">
                <a:solidFill>
                  <a:srgbClr val="1E3A5F"/>
                </a:solidFill>
              </a:rPr>
              <a:t>📊  Horizontal Bar</a:t>
            </a:r>
          </a:p>
          <a:p xmlns:a="http://schemas.openxmlformats.org/drawingml/2006/main">
            <a:r>
              <a:rPr lang="en-US" sz="1300">
                <a:solidFill>
                  <a:srgbClr val="1E3A5F"/>
                </a:solidFill>
              </a:rPr>
              <a:t>Top 10 Countries</a:t>
            </a:r>
          </a:p>
          <a:p xmlns:a="http://schemas.openxmlformats.org/drawingml/2006/main">
            <a:r>
              <a:rPr lang="en-US" sz="1300">
                <a:solidFill>
                  <a:srgbClr val="1E3A5F"/>
                </a:solidFill>
              </a:rPr>
              <a:t>by Invoice Count</a:t>
            </a:r>
          </a:p>
        </p:txBody>
      </p:sp>
      <p:sp>
        <p:nvSpPr>
          <p:cNvPr id="100057" name="Ch3"/>
          <p:cNvSpPr txBox="1"/>
          <p:nvPr/>
        </p:nvSpPr>
        <p:spPr>
          <a:xfrm xmlns:a="http://schemas.openxmlformats.org/drawingml/2006/main">
            <a:off x="6840000" y="1044000"/>
            <a:ext cx="3672000" cy="1080000"/>
          </a:xfrm>
          <a:prstGeom xmlns:a="http://schemas.openxmlformats.org/drawingml/2006/main" prst="rect">
            <a:avLst/>
          </a:prstGeom>
          <a:solidFill xmlns:a="http://schemas.openxmlformats.org/drawingml/2006/main">
            <a:srgbClr val="EFF6FF"/>
          </a:solidFill>
        </p:spPr>
        <p:txBody>
          <a:bodyPr xmlns:a="http://schemas.openxmlformats.org/drawingml/2006/main"/>
          <a:lstStyle xmlns:a="http://schemas.openxmlformats.org/drawingml/2006/main"/>
          <a:p xmlns:a="http://schemas.openxmlformats.org/drawingml/2006/main">
            <a:r>
              <a:rPr lang="en-US" sz="1300">
                <a:solidFill>
                  <a:srgbClr val="1E3A5F"/>
                </a:solidFill>
              </a:rPr>
              <a:t>🥧  Donut Pie</a:t>
            </a:r>
          </a:p>
          <a:p xmlns:a="http://schemas.openxmlformats.org/drawingml/2006/main">
            <a:r>
              <a:rPr lang="en-US" sz="1300">
                <a:solidFill>
                  <a:srgbClr val="1E3A5F"/>
                </a:solidFill>
              </a:rPr>
              <a:t>Sales Share —</a:t>
            </a:r>
          </a:p>
          <a:p xmlns:a="http://schemas.openxmlformats.org/drawingml/2006/main">
            <a:r>
              <a:rPr lang="en-US" sz="1300">
                <a:solidFill>
                  <a:srgbClr val="1E3A5F"/>
                </a:solidFill>
              </a:rPr>
              <a:t>Top 5 Countries</a:t>
            </a:r>
          </a:p>
        </p:txBody>
      </p:sp>
      <p:sp>
        <p:nvSpPr>
          <p:cNvPr id="100058" name="Ch4"/>
          <p:cNvSpPr txBox="1"/>
          <p:nvPr/>
        </p:nvSpPr>
        <p:spPr>
          <a:xfrm xmlns:a="http://schemas.openxmlformats.org/drawingml/2006/main">
            <a:off x="432000" y="2268000"/>
            <a:ext cx="3060000" cy="1080000"/>
          </a:xfrm>
          <a:prstGeom xmlns:a="http://schemas.openxmlformats.org/drawingml/2006/main" prst="rect">
            <a:avLst/>
          </a:prstGeom>
          <a:solidFill xmlns:a="http://schemas.openxmlformats.org/drawingml/2006/main">
            <a:srgbClr val="F0FDF4"/>
          </a:solidFill>
        </p:spPr>
        <p:txBody>
          <a:bodyPr xmlns:a="http://schemas.openxmlformats.org/drawingml/2006/main"/>
          <a:lstStyle xmlns:a="http://schemas.openxmlformats.org/drawingml/2006/main"/>
          <a:p xmlns:a="http://schemas.openxmlformats.org/drawingml/2006/main">
            <a:r>
              <a:rPr lang="en-US" sz="1300">
                <a:solidFill>
                  <a:srgbClr val="14532D"/>
                </a:solidFill>
              </a:rPr>
              <a:t>📊  Horizontal Bar</a:t>
            </a:r>
          </a:p>
          <a:p xmlns:a="http://schemas.openxmlformats.org/drawingml/2006/main">
            <a:r>
              <a:rPr lang="en-US" sz="1300">
                <a:solidFill>
                  <a:srgbClr val="14532D"/>
                </a:solidFill>
              </a:rPr>
              <a:t>Top 10 Products</a:t>
            </a:r>
          </a:p>
          <a:p xmlns:a="http://schemas.openxmlformats.org/drawingml/2006/main">
            <a:r>
              <a:rPr lang="en-US" sz="1300">
                <a:solidFill>
                  <a:srgbClr val="14532D"/>
                </a:solidFill>
              </a:rPr>
              <a:t>by Total Sales</a:t>
            </a:r>
          </a:p>
        </p:txBody>
      </p:sp>
      <p:sp>
        <p:nvSpPr>
          <p:cNvPr id="100059" name="Ch5"/>
          <p:cNvSpPr txBox="1"/>
          <p:nvPr/>
        </p:nvSpPr>
        <p:spPr>
          <a:xfrm xmlns:a="http://schemas.openxmlformats.org/drawingml/2006/main">
            <a:off x="3636000" y="2268000"/>
            <a:ext cx="3060000" cy="1080000"/>
          </a:xfrm>
          <a:prstGeom xmlns:a="http://schemas.openxmlformats.org/drawingml/2006/main" prst="rect">
            <a:avLst/>
          </a:prstGeom>
          <a:solidFill xmlns:a="http://schemas.openxmlformats.org/drawingml/2006/main">
            <a:srgbClr val="F0FDF4"/>
          </a:solidFill>
        </p:spPr>
        <p:txBody>
          <a:bodyPr xmlns:a="http://schemas.openxmlformats.org/drawingml/2006/main"/>
          <a:lstStyle xmlns:a="http://schemas.openxmlformats.org/drawingml/2006/main"/>
          <a:p xmlns:a="http://schemas.openxmlformats.org/drawingml/2006/main">
            <a:r>
              <a:rPr lang="en-US" sz="1300">
                <a:solidFill>
                  <a:srgbClr val="14532D"/>
                </a:solidFill>
              </a:rPr>
              <a:t>📊  Horizontal Bar</a:t>
            </a:r>
          </a:p>
          <a:p xmlns:a="http://schemas.openxmlformats.org/drawingml/2006/main">
            <a:r>
              <a:rPr lang="en-US" sz="1300">
                <a:solidFill>
                  <a:srgbClr val="14532D"/>
                </a:solidFill>
              </a:rPr>
              <a:t>Top 10 Products</a:t>
            </a:r>
          </a:p>
          <a:p xmlns:a="http://schemas.openxmlformats.org/drawingml/2006/main">
            <a:r>
              <a:rPr lang="en-US" sz="1300">
                <a:solidFill>
                  <a:srgbClr val="14532D"/>
                </a:solidFill>
              </a:rPr>
              <a:t>by Units Sold</a:t>
            </a:r>
          </a:p>
        </p:txBody>
      </p:sp>
      <p:sp>
        <p:nvSpPr>
          <p:cNvPr id="100060" name="Ch6"/>
          <p:cNvSpPr txBox="1"/>
          <p:nvPr/>
        </p:nvSpPr>
        <p:spPr>
          <a:xfrm xmlns:a="http://schemas.openxmlformats.org/drawingml/2006/main">
            <a:off x="6840000" y="2268000"/>
            <a:ext cx="3672000" cy="1080000"/>
          </a:xfrm>
          <a:prstGeom xmlns:a="http://schemas.openxmlformats.org/drawingml/2006/main" prst="rect">
            <a:avLst/>
          </a:prstGeom>
          <a:solidFill xmlns:a="http://schemas.openxmlformats.org/drawingml/2006/main">
            <a:srgbClr val="F0FDF4"/>
          </a:solidFill>
        </p:spPr>
        <p:txBody>
          <a:bodyPr xmlns:a="http://schemas.openxmlformats.org/drawingml/2006/main"/>
          <a:lstStyle xmlns:a="http://schemas.openxmlformats.org/drawingml/2006/main"/>
          <a:p xmlns:a="http://schemas.openxmlformats.org/drawingml/2006/main">
            <a:r>
              <a:rPr lang="en-US" sz="1300">
                <a:solidFill>
                  <a:srgbClr val="14532D"/>
                </a:solidFill>
              </a:rPr>
              <a:t>📊  Bar Chart</a:t>
            </a:r>
          </a:p>
          <a:p xmlns:a="http://schemas.openxmlformats.org/drawingml/2006/main">
            <a:r>
              <a:rPr lang="en-US" sz="1300">
                <a:solidFill>
                  <a:srgbClr val="14532D"/>
                </a:solidFill>
              </a:rPr>
              <a:t>Top 10 Customers</a:t>
            </a:r>
          </a:p>
          <a:p xmlns:a="http://schemas.openxmlformats.org/drawingml/2006/main">
            <a:r>
              <a:rPr lang="en-US" sz="1300">
                <a:solidFill>
                  <a:srgbClr val="14532D"/>
                </a:solidFill>
              </a:rPr>
              <a:t>by Total Sales</a:t>
            </a:r>
          </a:p>
        </p:txBody>
      </p:sp>
      <p:sp>
        <p:nvSpPr>
          <p:cNvPr id="100061" name="Ch7"/>
          <p:cNvSpPr txBox="1"/>
          <p:nvPr/>
        </p:nvSpPr>
        <p:spPr>
          <a:xfrm xmlns:a="http://schemas.openxmlformats.org/drawingml/2006/main">
            <a:off x="432000" y="3492000"/>
            <a:ext cx="3060000" cy="1080000"/>
          </a:xfrm>
          <a:prstGeom xmlns:a="http://schemas.openxmlformats.org/drawingml/2006/main" prst="rect">
            <a:avLst/>
          </a:prstGeom>
          <a:solidFill xmlns:a="http://schemas.openxmlformats.org/drawingml/2006/main">
            <a:srgbClr val="FFFBEB"/>
          </a:solidFill>
        </p:spPr>
        <p:txBody>
          <a:bodyPr xmlns:a="http://schemas.openxmlformats.org/drawingml/2006/main"/>
          <a:lstStyle xmlns:a="http://schemas.openxmlformats.org/drawingml/2006/main"/>
          <a:p xmlns:a="http://schemas.openxmlformats.org/drawingml/2006/main">
            <a:r>
              <a:rPr lang="en-US" sz="1300">
                <a:solidFill>
                  <a:srgbClr val="78350F"/>
                </a:solidFill>
              </a:rPr>
              <a:t>📈  Dual-Axis Line+Bar</a:t>
            </a:r>
          </a:p>
          <a:p xmlns:a="http://schemas.openxmlformats.org/drawingml/2006/main">
            <a:r>
              <a:rPr lang="en-US" sz="1300">
                <a:solidFill>
                  <a:srgbClr val="78350F"/>
                </a:solidFill>
              </a:rPr>
              <a:t>Monthly Sales vs</a:t>
            </a:r>
          </a:p>
          <a:p xmlns:a="http://schemas.openxmlformats.org/drawingml/2006/main">
            <a:r>
              <a:rPr lang="en-US" sz="1300">
                <a:solidFill>
                  <a:srgbClr val="78350F"/>
                </a:solidFill>
              </a:rPr>
              <a:t>Avg Sale per Line</a:t>
            </a:r>
          </a:p>
        </p:txBody>
      </p:sp>
      <p:sp>
        <p:nvSpPr>
          <p:cNvPr id="100062" name="Ch8"/>
          <p:cNvSpPr txBox="1"/>
          <p:nvPr/>
        </p:nvSpPr>
        <p:spPr>
          <a:xfrm xmlns:a="http://schemas.openxmlformats.org/drawingml/2006/main">
            <a:off x="3636000" y="3492000"/>
            <a:ext cx="3060000" cy="1080000"/>
          </a:xfrm>
          <a:prstGeom xmlns:a="http://schemas.openxmlformats.org/drawingml/2006/main" prst="rect">
            <a:avLst/>
          </a:prstGeom>
          <a:solidFill xmlns:a="http://schemas.openxmlformats.org/drawingml/2006/main">
            <a:srgbClr val="FFFBEB"/>
          </a:solidFill>
        </p:spPr>
        <p:txBody>
          <a:bodyPr xmlns:a="http://schemas.openxmlformats.org/drawingml/2006/main"/>
          <a:lstStyle xmlns:a="http://schemas.openxmlformats.org/drawingml/2006/main"/>
          <a:p xmlns:a="http://schemas.openxmlformats.org/drawingml/2006/main">
            <a:r>
              <a:rPr lang="en-US" sz="1300">
                <a:solidFill>
                  <a:srgbClr val="78350F"/>
                </a:solidFill>
              </a:rPr>
              <a:t>📊  Bar Chart</a:t>
            </a:r>
          </a:p>
          <a:p xmlns:a="http://schemas.openxmlformats.org/drawingml/2006/main">
            <a:r>
              <a:rPr lang="en-US" sz="1300">
                <a:solidFill>
                  <a:srgbClr val="78350F"/>
                </a:solidFill>
              </a:rPr>
              <a:t>Total Sales by</a:t>
            </a:r>
          </a:p>
          <a:p xmlns:a="http://schemas.openxmlformats.org/drawingml/2006/main">
            <a:r>
              <a:rPr lang="en-US" sz="1300">
                <a:solidFill>
                  <a:srgbClr val="78350F"/>
                </a:solidFill>
              </a:rPr>
              <a:t>Day of Week</a:t>
            </a:r>
          </a:p>
        </p:txBody>
      </p:sp>
      <p:sp>
        <p:nvSpPr>
          <p:cNvPr id="100063" name="Ch9"/>
          <p:cNvSpPr txBox="1"/>
          <p:nvPr/>
        </p:nvSpPr>
        <p:spPr>
          <a:xfrm xmlns:a="http://schemas.openxmlformats.org/drawingml/2006/main">
            <a:off x="6840000" y="3492000"/>
            <a:ext cx="3672000" cy="1080000"/>
          </a:xfrm>
          <a:prstGeom xmlns:a="http://schemas.openxmlformats.org/drawingml/2006/main" prst="rect">
            <a:avLst/>
          </a:prstGeom>
          <a:solidFill xmlns:a="http://schemas.openxmlformats.org/drawingml/2006/main">
            <a:srgbClr val="FFFBEB"/>
          </a:solidFill>
        </p:spPr>
        <p:txBody>
          <a:bodyPr xmlns:a="http://schemas.openxmlformats.org/drawingml/2006/main"/>
          <a:lstStyle xmlns:a="http://schemas.openxmlformats.org/drawingml/2006/main"/>
          <a:p xmlns:a="http://schemas.openxmlformats.org/drawingml/2006/main">
            <a:r>
              <a:rPr lang="en-US" sz="1300">
                <a:solidFill>
                  <a:srgbClr val="78350F"/>
                </a:solidFill>
              </a:rPr>
              <a:t>📈  Line Chart</a:t>
            </a:r>
          </a:p>
          <a:p xmlns:a="http://schemas.openxmlformats.org/drawingml/2006/main">
            <a:r>
              <a:rPr lang="en-US" sz="1300">
                <a:solidFill>
                  <a:srgbClr val="78350F"/>
                </a:solidFill>
              </a:rPr>
              <a:t>Peak Sales</a:t>
            </a:r>
          </a:p>
          <a:p xmlns:a="http://schemas.openxmlformats.org/drawingml/2006/main">
            <a:r>
              <a:rPr lang="en-US" sz="1300">
                <a:solidFill>
                  <a:srgbClr val="78350F"/>
                </a:solidFill>
              </a:rPr>
              <a:t>by Hour of Day</a:t>
            </a:r>
          </a:p>
        </p:txBody>
      </p:sp>
      <p:sp>
        <p:nvSpPr>
          <p:cNvPr id="100064" name="Ch10"/>
          <p:cNvSpPr txBox="1"/>
          <p:nvPr/>
        </p:nvSpPr>
        <p:spPr>
          <a:xfrm xmlns:a="http://schemas.openxmlformats.org/drawingml/2006/main">
            <a:off x="432000" y="4716000"/>
            <a:ext cx="3060000" cy="1080000"/>
          </a:xfrm>
          <a:prstGeom xmlns:a="http://schemas.openxmlformats.org/drawingml/2006/main" prst="rect">
            <a:avLst/>
          </a:prstGeom>
          <a:solidFill xmlns:a="http://schemas.openxmlformats.org/drawingml/2006/main">
            <a:srgbClr val="F1F5F9"/>
          </a:solidFill>
        </p:spPr>
        <p:txBody>
          <a:bodyPr xmlns:a="http://schemas.openxmlformats.org/drawingml/2006/main"/>
          <a:lstStyle xmlns:a="http://schemas.openxmlformats.org/drawingml/2006/main"/>
          <a:p xmlns:a="http://schemas.openxmlformats.org/drawingml/2006/main">
            <a:r>
              <a:rPr lang="en-US" sz="1300">
                <a:solidFill>
                  <a:srgbClr val="1E293B"/>
                </a:solidFill>
              </a:rPr>
              <a:t>🔥  Heatmap</a:t>
            </a:r>
          </a:p>
          <a:p xmlns:a="http://schemas.openxmlformats.org/drawingml/2006/main">
            <a:r>
              <a:rPr lang="en-US" sz="1300">
                <a:solidFill>
                  <a:srgbClr val="1E293B"/>
                </a:solidFill>
              </a:rPr>
              <a:t>Country × Month Sales</a:t>
            </a:r>
          </a:p>
          <a:p xmlns:a="http://schemas.openxmlformats.org/drawingml/2006/main">
            <a:r>
              <a:rPr lang="en-US" sz="1300">
                <a:solidFill>
                  <a:srgbClr val="1E293B"/>
                </a:solidFill>
              </a:rPr>
              <a:t>(Top 10 Countries)</a:t>
            </a:r>
          </a:p>
        </p:txBody>
      </p:sp>
      <p:sp>
        <p:nvSpPr>
          <p:cNvPr id="100065" name="Ch11"/>
          <p:cNvSpPr txBox="1"/>
          <p:nvPr/>
        </p:nvSpPr>
        <p:spPr>
          <a:xfrm xmlns:a="http://schemas.openxmlformats.org/drawingml/2006/main">
            <a:off x="3636000" y="4716000"/>
            <a:ext cx="3060000" cy="1080000"/>
          </a:xfrm>
          <a:prstGeom xmlns:a="http://schemas.openxmlformats.org/drawingml/2006/main" prst="rect">
            <a:avLst/>
          </a:prstGeom>
          <a:solidFill xmlns:a="http://schemas.openxmlformats.org/drawingml/2006/main">
            <a:srgbClr val="F1F5F9"/>
          </a:solidFill>
        </p:spPr>
        <p:txBody>
          <a:bodyPr xmlns:a="http://schemas.openxmlformats.org/drawingml/2006/main"/>
          <a:lstStyle xmlns:a="http://schemas.openxmlformats.org/drawingml/2006/main"/>
          <a:p xmlns:a="http://schemas.openxmlformats.org/drawingml/2006/main">
            <a:r>
              <a:rPr lang="en-US" sz="1300">
                <a:solidFill>
                  <a:srgbClr val="1E293B"/>
                </a:solidFill>
              </a:rPr>
              <a:t>📊  Bar Chart</a:t>
            </a:r>
          </a:p>
          <a:p xmlns:a="http://schemas.openxmlformats.org/drawingml/2006/main">
            <a:r>
              <a:rPr lang="en-US" sz="1300">
                <a:solidFill>
                  <a:srgbClr val="1E293B"/>
                </a:solidFill>
              </a:rPr>
              <a:t>Units Sold</a:t>
            </a:r>
          </a:p>
          <a:p xmlns:a="http://schemas.openxmlformats.org/drawingml/2006/main">
            <a:r>
              <a:rPr lang="en-US" sz="1300">
                <a:solidFill>
                  <a:srgbClr val="1E293B"/>
                </a:solidFill>
              </a:rPr>
              <a:t>per Month</a:t>
            </a:r>
          </a:p>
        </p:txBody>
      </p:sp>
      <p:sp>
        <p:nvSpPr>
          <p:cNvPr id="100066" name="Ch12"/>
          <p:cNvSpPr txBox="1"/>
          <p:nvPr/>
        </p:nvSpPr>
        <p:spPr>
          <a:xfrm xmlns:a="http://schemas.openxmlformats.org/drawingml/2006/main">
            <a:off x="6840000" y="4716000"/>
            <a:ext cx="3672000" cy="1080000"/>
          </a:xfrm>
          <a:prstGeom xmlns:a="http://schemas.openxmlformats.org/drawingml/2006/main" prst="rect">
            <a:avLst/>
          </a:prstGeom>
          <a:solidFill xmlns:a="http://schemas.openxmlformats.org/drawingml/2006/main">
            <a:srgbClr val="F1F5F9"/>
          </a:solidFill>
        </p:spPr>
        <p:txBody>
          <a:bodyPr xmlns:a="http://schemas.openxmlformats.org/drawingml/2006/main"/>
          <a:lstStyle xmlns:a="http://schemas.openxmlformats.org/drawingml/2006/main"/>
          <a:p xmlns:a="http://schemas.openxmlformats.org/drawingml/2006/main">
            <a:r>
              <a:rPr lang="en-US" sz="1300">
                <a:solidFill>
                  <a:srgbClr val="1E293B"/>
                </a:solidFill>
              </a:rPr>
              <a:t>📈  Line Chart</a:t>
            </a:r>
          </a:p>
          <a:p xmlns:a="http://schemas.openxmlformats.org/drawingml/2006/main">
            <a:r>
              <a:rPr lang="en-US" sz="1300">
                <a:solidFill>
                  <a:srgbClr val="1E293B"/>
                </a:solidFill>
              </a:rPr>
              <a:t>Invoice Count</a:t>
            </a:r>
          </a:p>
          <a:p xmlns:a="http://schemas.openxmlformats.org/drawingml/2006/main">
            <a:r>
              <a:rPr lang="en-US" sz="1300">
                <a:solidFill>
                  <a:srgbClr val="1E293B"/>
                </a:solidFill>
              </a:rPr>
              <a:t>per Month</a:t>
            </a:r>
          </a:p>
        </p:txBody>
      </p:sp>
    </p:spTree>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67" name="Accent"/>
          <p:cNvSpPr txBox="1"/>
          <p:nvPr/>
        </p:nvSpPr>
        <p:spPr>
          <a:xfrm xmlns:a="http://schemas.openxmlformats.org/drawingml/2006/main">
            <a:off x="0" y="0"/>
            <a:ext cx="216000" cy="6858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068" name="Title"/>
          <p:cNvSpPr txBox="1"/>
          <p:nvPr/>
        </p:nvSpPr>
        <p:spPr>
          <a:xfrm xmlns:a="http://schemas.openxmlformats.org/drawingml/2006/main">
            <a:off x="432000" y="288000"/>
            <a:ext cx="10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800" b="1">
                <a:solidFill>
                  <a:srgbClr val="1E3A5F"/>
                </a:solidFill>
              </a:rPr>
              <a:t>Step 6 — Business Decisions &amp; Recommendations</a:t>
            </a:r>
          </a:p>
        </p:txBody>
      </p:sp>
      <p:sp>
        <p:nvSpPr>
          <p:cNvPr id="100069" name="Line"/>
          <p:cNvSpPr txBox="1"/>
          <p:nvPr/>
        </p:nvSpPr>
        <p:spPr>
          <a:xfrm xmlns:a="http://schemas.openxmlformats.org/drawingml/2006/main">
            <a:off x="432000" y="864000"/>
            <a:ext cx="10080000" cy="216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070" name="R1"/>
          <p:cNvSpPr txBox="1"/>
          <p:nvPr/>
        </p:nvSpPr>
        <p:spPr>
          <a:xfrm xmlns:a="http://schemas.openxmlformats.org/drawingml/2006/main">
            <a:off x="432000" y="1008000"/>
            <a:ext cx="4860000" cy="1080000"/>
          </a:xfrm>
          <a:prstGeom xmlns:a="http://schemas.openxmlformats.org/drawingml/2006/main" prst="rect">
            <a:avLst/>
          </a:prstGeom>
          <a:solidFill xmlns:a="http://schemas.openxmlformats.org/drawingml/2006/main">
            <a:srgbClr val="F0FDF4"/>
          </a:solidFill>
        </p:spPr>
        <p:txBody>
          <a:bodyPr xmlns:a="http://schemas.openxmlformats.org/drawingml/2006/main"/>
          <a:lstStyle xmlns:a="http://schemas.openxmlformats.org/drawingml/2006/main"/>
          <a:p xmlns:a="http://schemas.openxmlformats.org/drawingml/2006/main">
            <a:r>
              <a:rPr lang="en-US" sz="1300">
                <a:solidFill>
                  <a:srgbClr val="14532D"/>
                </a:solidFill>
              </a:rPr>
              <a:t>🌍  Strengthen the #1 Market</a:t>
            </a:r>
          </a:p>
          <a:p xmlns:a="http://schemas.openxmlformats.org/drawingml/2006/main">
            <a:r>
              <a:rPr lang="en-US" sz="1300">
                <a:solidFill>
                  <a:srgbClr val="14532D"/>
                </a:solidFill>
              </a:rPr>
              <a:t>The UK dominates total sales. Maintain supply chain reliability, fast delivery SLAs, and exclusive loyalty benefits to protect this revenue base.</a:t>
            </a:r>
          </a:p>
        </p:txBody>
      </p:sp>
      <p:sp>
        <p:nvSpPr>
          <p:cNvPr id="100071" name="R2"/>
          <p:cNvSpPr txBox="1"/>
          <p:nvPr/>
        </p:nvSpPr>
        <p:spPr>
          <a:xfrm xmlns:a="http://schemas.openxmlformats.org/drawingml/2006/main">
            <a:off x="5580000" y="1008000"/>
            <a:ext cx="4860000" cy="1080000"/>
          </a:xfrm>
          <a:prstGeom xmlns:a="http://schemas.openxmlformats.org/drawingml/2006/main" prst="rect">
            <a:avLst/>
          </a:prstGeom>
          <a:solidFill xmlns:a="http://schemas.openxmlformats.org/drawingml/2006/main">
            <a:srgbClr val="EFF6FF"/>
          </a:solidFill>
        </p:spPr>
        <p:txBody>
          <a:bodyPr xmlns:a="http://schemas.openxmlformats.org/drawingml/2006/main"/>
          <a:lstStyle xmlns:a="http://schemas.openxmlformats.org/drawingml/2006/main"/>
          <a:p xmlns:a="http://schemas.openxmlformats.org/drawingml/2006/main">
            <a:r>
              <a:rPr lang="en-US" sz="1300">
                <a:solidFill>
                  <a:srgbClr val="1E3A5F"/>
                </a:solidFill>
              </a:rPr>
              <a:t>📈  Grow Secondary Markets</a:t>
            </a:r>
          </a:p>
          <a:p xmlns:a="http://schemas.openxmlformats.org/drawingml/2006/main">
            <a:r>
              <a:rPr lang="en-US" sz="1300">
                <a:solidFill>
                  <a:srgbClr val="1E3A5F"/>
                </a:solidFill>
              </a:rPr>
              <a:t>Netherlands, Ireland, and Germany show strong growth potential. Invest in localised pricing, regional account managers, and targeted catalogues.</a:t>
            </a:r>
          </a:p>
        </p:txBody>
      </p:sp>
      <p:sp>
        <p:nvSpPr>
          <p:cNvPr id="100072" name="R3"/>
          <p:cNvSpPr txBox="1"/>
          <p:nvPr/>
        </p:nvSpPr>
        <p:spPr>
          <a:xfrm xmlns:a="http://schemas.openxmlformats.org/drawingml/2006/main">
            <a:off x="432000" y="2232000"/>
            <a:ext cx="4860000" cy="1080000"/>
          </a:xfrm>
          <a:prstGeom xmlns:a="http://schemas.openxmlformats.org/drawingml/2006/main" prst="rect">
            <a:avLst/>
          </a:prstGeom>
          <a:solidFill xmlns:a="http://schemas.openxmlformats.org/drawingml/2006/main">
            <a:srgbClr val="F0FDF4"/>
          </a:solidFill>
        </p:spPr>
        <p:txBody>
          <a:bodyPr xmlns:a="http://schemas.openxmlformats.org/drawingml/2006/main"/>
          <a:lstStyle xmlns:a="http://schemas.openxmlformats.org/drawingml/2006/main"/>
          <a:p xmlns:a="http://schemas.openxmlformats.org/drawingml/2006/main">
            <a:r>
              <a:rPr lang="en-US" sz="1300">
                <a:solidFill>
                  <a:srgbClr val="14532D"/>
                </a:solidFill>
              </a:rPr>
              <a:t>📦  Double Down on Bestsellers</a:t>
            </a:r>
          </a:p>
          <a:p xmlns:a="http://schemas.openxmlformats.org/drawingml/2006/main">
            <a:r>
              <a:rPr lang="en-US" sz="1300">
                <a:solidFill>
                  <a:srgbClr val="14532D"/>
                </a:solidFill>
              </a:rPr>
              <a:t>Top-revenue products should have guaranteed stock levels, fast re-order triggers, and front-of-catalogue placement to maximise conversion.</a:t>
            </a:r>
          </a:p>
        </p:txBody>
      </p:sp>
      <p:sp>
        <p:nvSpPr>
          <p:cNvPr id="100073" name="R4"/>
          <p:cNvSpPr txBox="1"/>
          <p:nvPr/>
        </p:nvSpPr>
        <p:spPr>
          <a:xfrm xmlns:a="http://schemas.openxmlformats.org/drawingml/2006/main">
            <a:off x="5580000" y="2232000"/>
            <a:ext cx="4860000" cy="1080000"/>
          </a:xfrm>
          <a:prstGeom xmlns:a="http://schemas.openxmlformats.org/drawingml/2006/main" prst="rect">
            <a:avLst/>
          </a:prstGeom>
          <a:solidFill xmlns:a="http://schemas.openxmlformats.org/drawingml/2006/main">
            <a:srgbClr val="FFFBEB"/>
          </a:solidFill>
        </p:spPr>
        <p:txBody>
          <a:bodyPr xmlns:a="http://schemas.openxmlformats.org/drawingml/2006/main"/>
          <a:lstStyle xmlns:a="http://schemas.openxmlformats.org/drawingml/2006/main"/>
          <a:p xmlns:a="http://schemas.openxmlformats.org/drawingml/2006/main">
            <a:r>
              <a:rPr lang="en-US" sz="1300">
                <a:solidFill>
                  <a:srgbClr val="78350F"/>
                </a:solidFill>
              </a:rPr>
              <a:t>🗑️  Retire Low-Margin Products</a:t>
            </a:r>
          </a:p>
          <a:p xmlns:a="http://schemas.openxmlformats.org/drawingml/2006/main">
            <a:r>
              <a:rPr lang="en-US" sz="1300">
                <a:solidFill>
                  <a:srgbClr val="78350F"/>
                </a:solidFill>
              </a:rPr>
              <a:t>Products at the bottom of the revenue list should be bundled with bestsellers or discontinued to free up warehouse space and focus resources.</a:t>
            </a:r>
          </a:p>
        </p:txBody>
      </p:sp>
      <p:sp>
        <p:nvSpPr>
          <p:cNvPr id="100074" name="R5"/>
          <p:cNvSpPr txBox="1"/>
          <p:nvPr/>
        </p:nvSpPr>
        <p:spPr>
          <a:xfrm xmlns:a="http://schemas.openxmlformats.org/drawingml/2006/main">
            <a:off x="432000" y="3456000"/>
            <a:ext cx="4860000" cy="1152000"/>
          </a:xfrm>
          <a:prstGeom xmlns:a="http://schemas.openxmlformats.org/drawingml/2006/main" prst="rect">
            <a:avLst/>
          </a:prstGeom>
          <a:solidFill xmlns:a="http://schemas.openxmlformats.org/drawingml/2006/main">
            <a:srgbClr val="EFF6FF"/>
          </a:solidFill>
        </p:spPr>
        <p:txBody>
          <a:bodyPr xmlns:a="http://schemas.openxmlformats.org/drawingml/2006/main"/>
          <a:lstStyle xmlns:a="http://schemas.openxmlformats.org/drawingml/2006/main"/>
          <a:p xmlns:a="http://schemas.openxmlformats.org/drawingml/2006/main">
            <a:r>
              <a:rPr lang="en-US" sz="1300">
                <a:solidFill>
                  <a:srgbClr val="1E3A5F"/>
                </a:solidFill>
              </a:rPr>
              <a:t>👤  VIP Customer Programme</a:t>
            </a:r>
          </a:p>
          <a:p xmlns:a="http://schemas.openxmlformats.org/drawingml/2006/main">
            <a:r>
              <a:rPr lang="en-US" sz="1300">
                <a:solidFill>
                  <a:srgbClr val="1E3A5F"/>
                </a:solidFill>
              </a:rPr>
              <a:t>Top 20 customers generate disproportionate revenue. A dedicated VIP tier with early access, exclusive discounts, and personal account managers will deepen retention.</a:t>
            </a:r>
          </a:p>
        </p:txBody>
      </p:sp>
      <p:sp>
        <p:nvSpPr>
          <p:cNvPr id="100075" name="R6"/>
          <p:cNvSpPr txBox="1"/>
          <p:nvPr/>
        </p:nvSpPr>
        <p:spPr>
          <a:xfrm xmlns:a="http://schemas.openxmlformats.org/drawingml/2006/main">
            <a:off x="5580000" y="3456000"/>
            <a:ext cx="4860000" cy="1152000"/>
          </a:xfrm>
          <a:prstGeom xmlns:a="http://schemas.openxmlformats.org/drawingml/2006/main" prst="rect">
            <a:avLst/>
          </a:prstGeom>
          <a:solidFill xmlns:a="http://schemas.openxmlformats.org/drawingml/2006/main">
            <a:srgbClr val="FFFBEB"/>
          </a:solidFill>
        </p:spPr>
        <p:txBody>
          <a:bodyPr xmlns:a="http://schemas.openxmlformats.org/drawingml/2006/main"/>
          <a:lstStyle xmlns:a="http://schemas.openxmlformats.org/drawingml/2006/main"/>
          <a:p xmlns:a="http://schemas.openxmlformats.org/drawingml/2006/main">
            <a:r>
              <a:rPr lang="en-US" sz="1300">
                <a:solidFill>
                  <a:srgbClr val="78350F"/>
                </a:solidFill>
              </a:rPr>
              <a:t>⏰  Capitalise on Peak Hours</a:t>
            </a:r>
          </a:p>
          <a:p xmlns:a="http://schemas.openxmlformats.org/drawingml/2006/main">
            <a:r>
              <a:rPr lang="en-US" sz="1300">
                <a:solidFill>
                  <a:srgbClr val="78350F"/>
                </a:solidFill>
              </a:rPr>
              <a:t>The 12:00–13:00 window drives the highest hourly sales. Schedule flash deals, email campaigns, and social posts to launch just before this window opens.</a:t>
            </a:r>
          </a:p>
        </p:txBody>
      </p:sp>
      <p:sp>
        <p:nvSpPr>
          <p:cNvPr id="100076" name="R7"/>
          <p:cNvSpPr txBox="1"/>
          <p:nvPr/>
        </p:nvSpPr>
        <p:spPr>
          <a:xfrm xmlns:a="http://schemas.openxmlformats.org/drawingml/2006/main">
            <a:off x="432000" y="4752000"/>
            <a:ext cx="4860000" cy="1080000"/>
          </a:xfrm>
          <a:prstGeom xmlns:a="http://schemas.openxmlformats.org/drawingml/2006/main" prst="rect">
            <a:avLst/>
          </a:prstGeom>
          <a:solidFill xmlns:a="http://schemas.openxmlformats.org/drawingml/2006/main">
            <a:srgbClr val="F0FDF4"/>
          </a:solidFill>
        </p:spPr>
        <p:txBody>
          <a:bodyPr xmlns:a="http://schemas.openxmlformats.org/drawingml/2006/main"/>
          <a:lstStyle xmlns:a="http://schemas.openxmlformats.org/drawingml/2006/main"/>
          <a:p xmlns:a="http://schemas.openxmlformats.org/drawingml/2006/main">
            <a:r>
              <a:rPr lang="en-US" sz="1300">
                <a:solidFill>
                  <a:srgbClr val="14532D"/>
                </a:solidFill>
              </a:rPr>
              <a:t>📅  Plan for November  →  Biggest month by sales. Prepare inventory, marketing budget, and staffing at least 6 weeks in advance. Counter the February slump with a loyalty rewards campaign.</a:t>
            </a:r>
          </a:p>
        </p:txBody>
      </p:sp>
      <p:sp>
        <p:nvSpPr>
          <p:cNvPr id="100077" name="R8"/>
          <p:cNvSpPr txBox="1"/>
          <p:nvPr/>
        </p:nvSpPr>
        <p:spPr>
          <a:xfrm xmlns:a="http://schemas.openxmlformats.org/drawingml/2006/main">
            <a:off x="5580000" y="4752000"/>
            <a:ext cx="4860000" cy="1080000"/>
          </a:xfrm>
          <a:prstGeom xmlns:a="http://schemas.openxmlformats.org/drawingml/2006/main" prst="rect">
            <a:avLst/>
          </a:prstGeom>
          <a:solidFill xmlns:a="http://schemas.openxmlformats.org/drawingml/2006/main">
            <a:srgbClr val="EFF6FF"/>
          </a:solidFill>
        </p:spPr>
        <p:txBody>
          <a:bodyPr xmlns:a="http://schemas.openxmlformats.org/drawingml/2006/main"/>
          <a:lstStyle xmlns:a="http://schemas.openxmlformats.org/drawingml/2006/main"/>
          <a:p xmlns:a="http://schemas.openxmlformats.org/drawingml/2006/main">
            <a:r>
              <a:rPr lang="en-US" sz="1300">
                <a:solidFill>
                  <a:srgbClr val="1E3A5F"/>
                </a:solidFill>
              </a:rPr>
              <a:t>💰  Upsell to Raise Average Invoice Value</a:t>
            </a:r>
          </a:p>
          <a:p xmlns:a="http://schemas.openxmlformats.org/drawingml/2006/main">
            <a:r>
              <a:rPr lang="en-US" sz="1300">
                <a:solidFill>
                  <a:srgbClr val="1E3A5F"/>
                </a:solidFill>
              </a:rPr>
              <a:t>Average invoice value can be pushed +15% through 'Frequently Bought Together' bundles, minimum-order thresholds for free delivery, and cross-category recommendations.</a:t>
            </a:r>
          </a:p>
        </p:txBody>
      </p:sp>
    </p:spTree>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78" name="Accent"/>
          <p:cNvSpPr txBox="1"/>
          <p:nvPr/>
        </p:nvSpPr>
        <p:spPr>
          <a:xfrm xmlns:a="http://schemas.openxmlformats.org/drawingml/2006/main">
            <a:off x="0" y="0"/>
            <a:ext cx="216000" cy="6858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079" name="Title"/>
          <p:cNvSpPr txBox="1"/>
          <p:nvPr/>
        </p:nvSpPr>
        <p:spPr>
          <a:xfrm xmlns:a="http://schemas.openxmlformats.org/drawingml/2006/main">
            <a:off x="432000" y="288000"/>
            <a:ext cx="10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000" b="1">
                <a:solidFill>
                  <a:srgbClr val="1E3A5F"/>
                </a:solidFill>
              </a:rPr>
              <a:t>Streamlit Dashboard — Feature Walkthrough</a:t>
            </a:r>
          </a:p>
        </p:txBody>
      </p:sp>
      <p:sp>
        <p:nvSpPr>
          <p:cNvPr id="100080" name="Line"/>
          <p:cNvSpPr txBox="1"/>
          <p:nvPr/>
        </p:nvSpPr>
        <p:spPr>
          <a:xfrm xmlns:a="http://schemas.openxmlformats.org/drawingml/2006/main">
            <a:off x="432000" y="864000"/>
            <a:ext cx="10080000" cy="216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081" name="TabsHdr"/>
          <p:cNvSpPr txBox="1"/>
          <p:nvPr/>
        </p:nvSpPr>
        <p:spPr>
          <a:xfrm xmlns:a="http://schemas.openxmlformats.org/drawingml/2006/main">
            <a:off x="432000" y="1008000"/>
            <a:ext cx="10008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b="1">
                <a:solidFill>
                  <a:srgbClr val="1E3A5F"/>
                </a:solidFill>
              </a:rPr>
              <a:t>6 Tabs  —  One tab per analysis step</a:t>
            </a:r>
          </a:p>
        </p:txBody>
      </p:sp>
      <p:sp>
        <p:nvSpPr>
          <p:cNvPr id="100082" name="T1"/>
          <p:cNvSpPr txBox="1"/>
          <p:nvPr/>
        </p:nvSpPr>
        <p:spPr>
          <a:xfrm xmlns:a="http://schemas.openxmlformats.org/drawingml/2006/main">
            <a:off x="432000" y="1332000"/>
            <a:ext cx="3168000" cy="1260000"/>
          </a:xfrm>
          <a:prstGeom xmlns:a="http://schemas.openxmlformats.org/drawingml/2006/main" prst="rect">
            <a:avLst/>
          </a:prstGeom>
          <a:solidFill xmlns:a="http://schemas.openxmlformats.org/drawingml/2006/main">
            <a:srgbClr val="F8FAFC"/>
          </a:solidFill>
        </p:spPr>
        <p:txBody>
          <a:bodyPr xmlns:a="http://schemas.openxmlformats.org/drawingml/2006/main"/>
          <a:lstStyle xmlns:a="http://schemas.openxmlformats.org/drawingml/2006/main"/>
          <a:p xmlns:a="http://schemas.openxmlformats.org/drawingml/2006/main">
            <a:r>
              <a:rPr lang="en-US" sz="1200">
                <a:solidFill>
                  <a:srgbClr val="1E293B"/>
                </a:solidFill>
              </a:rPr>
              <a:t>📋  Tab 1</a:t>
            </a:r>
          </a:p>
          <a:p xmlns:a="http://schemas.openxmlformats.org/drawingml/2006/main">
            <a:r>
              <a:rPr lang="en-US" sz="1200">
                <a:solidFill>
                  <a:srgbClr val="1E293B"/>
                </a:solidFill>
              </a:rPr>
              <a:t>Load Data</a:t>
            </a:r>
          </a:p>
          <a:p xmlns:a="http://schemas.openxmlformats.org/drawingml/2006/main">
            <a:r>
              <a:rPr lang="en-US" sz="1200">
                <a:solidFill>
                  <a:srgbClr val="1E293B"/>
                </a:solidFill>
              </a:rPr>
              <a:t/>
            </a:r>
          </a:p>
          <a:p xmlns:a="http://schemas.openxmlformats.org/drawingml/2006/main">
            <a:r>
              <a:rPr lang="en-US" sz="1200">
                <a:solidFill>
                  <a:srgbClr val="1E293B"/>
                </a:solidFill>
              </a:rPr>
              <a:t>Dataset preview, column schema, row/column counts, sample values</a:t>
            </a:r>
          </a:p>
        </p:txBody>
      </p:sp>
      <p:sp>
        <p:nvSpPr>
          <p:cNvPr id="100083" name="T2"/>
          <p:cNvSpPr txBox="1"/>
          <p:nvPr/>
        </p:nvSpPr>
        <p:spPr>
          <a:xfrm xmlns:a="http://schemas.openxmlformats.org/drawingml/2006/main">
            <a:off x="3744000" y="1332000"/>
            <a:ext cx="3168000" cy="1260000"/>
          </a:xfrm>
          <a:prstGeom xmlns:a="http://schemas.openxmlformats.org/drawingml/2006/main" prst="rect">
            <a:avLst/>
          </a:prstGeom>
          <a:solidFill xmlns:a="http://schemas.openxmlformats.org/drawingml/2006/main">
            <a:srgbClr val="F8FAFC"/>
          </a:solidFill>
        </p:spPr>
        <p:txBody>
          <a:bodyPr xmlns:a="http://schemas.openxmlformats.org/drawingml/2006/main"/>
          <a:lstStyle xmlns:a="http://schemas.openxmlformats.org/drawingml/2006/main"/>
          <a:p xmlns:a="http://schemas.openxmlformats.org/drawingml/2006/main">
            <a:r>
              <a:rPr lang="en-US" sz="1200">
                <a:solidFill>
                  <a:srgbClr val="1E293B"/>
                </a:solidFill>
              </a:rPr>
              <a:t>🧹  Tab 2</a:t>
            </a:r>
          </a:p>
          <a:p xmlns:a="http://schemas.openxmlformats.org/drawingml/2006/main">
            <a:r>
              <a:rPr lang="en-US" sz="1200">
                <a:solidFill>
                  <a:srgbClr val="1E293B"/>
                </a:solidFill>
              </a:rPr>
              <a:t>Data Cleaning</a:t>
            </a:r>
          </a:p>
          <a:p xmlns:a="http://schemas.openxmlformats.org/drawingml/2006/main">
            <a:r>
              <a:rPr lang="en-US" sz="1200">
                <a:solidFill>
                  <a:srgbClr val="1E293B"/>
                </a:solidFill>
              </a:rPr>
              <a:t/>
            </a:r>
          </a:p>
          <a:p xmlns:a="http://schemas.openxmlformats.org/drawingml/2006/main">
            <a:r>
              <a:rPr lang="en-US" sz="1200">
                <a:solidFill>
                  <a:srgbClr val="1E293B"/>
                </a:solidFill>
              </a:rPr>
              <a:t>Missing value bar chart, duplicate counts, type checks, descriptive stats</a:t>
            </a:r>
          </a:p>
        </p:txBody>
      </p:sp>
      <p:sp>
        <p:nvSpPr>
          <p:cNvPr id="100084" name="T3"/>
          <p:cNvSpPr txBox="1"/>
          <p:nvPr/>
        </p:nvSpPr>
        <p:spPr>
          <a:xfrm xmlns:a="http://schemas.openxmlformats.org/drawingml/2006/main">
            <a:off x="7056000" y="1332000"/>
            <a:ext cx="3384000" cy="1260000"/>
          </a:xfrm>
          <a:prstGeom xmlns:a="http://schemas.openxmlformats.org/drawingml/2006/main" prst="rect">
            <a:avLst/>
          </a:prstGeom>
          <a:solidFill xmlns:a="http://schemas.openxmlformats.org/drawingml/2006/main">
            <a:srgbClr val="F8FAFC"/>
          </a:solidFill>
        </p:spPr>
        <p:txBody>
          <a:bodyPr xmlns:a="http://schemas.openxmlformats.org/drawingml/2006/main"/>
          <a:lstStyle xmlns:a="http://schemas.openxmlformats.org/drawingml/2006/main"/>
          <a:p xmlns:a="http://schemas.openxmlformats.org/drawingml/2006/main">
            <a:r>
              <a:rPr lang="en-US" sz="1200">
                <a:solidFill>
                  <a:srgbClr val="1E293B"/>
                </a:solidFill>
              </a:rPr>
              <a:t>🧮  Tab 3</a:t>
            </a:r>
          </a:p>
          <a:p xmlns:a="http://schemas.openxmlformats.org/drawingml/2006/main">
            <a:r>
              <a:rPr lang="en-US" sz="1200">
                <a:solidFill>
                  <a:srgbClr val="1E293B"/>
                </a:solidFill>
              </a:rPr>
              <a:t>Sales Formula</a:t>
            </a:r>
          </a:p>
          <a:p xmlns:a="http://schemas.openxmlformats.org/drawingml/2006/main">
            <a:r>
              <a:rPr lang="en-US" sz="1200">
                <a:solidFill>
                  <a:srgbClr val="1E293B"/>
                </a:solidFill>
              </a:rPr>
              <a:t/>
            </a:r>
          </a:p>
          <a:p xmlns:a="http://schemas.openxmlformats.org/drawingml/2006/main">
            <a:r>
              <a:rPr lang="en-US" sz="1200">
                <a:solidFill>
                  <a:srgbClr val="1E293B"/>
                </a:solidFill>
              </a:rPr>
              <a:t>Formula display, sample table showing Qty × Price, sales histogram</a:t>
            </a:r>
          </a:p>
        </p:txBody>
      </p:sp>
      <p:sp>
        <p:nvSpPr>
          <p:cNvPr id="100085" name="T4"/>
          <p:cNvSpPr txBox="1"/>
          <p:nvPr/>
        </p:nvSpPr>
        <p:spPr>
          <a:xfrm xmlns:a="http://schemas.openxmlformats.org/drawingml/2006/main">
            <a:off x="432000" y="2736000"/>
            <a:ext cx="3168000" cy="1260000"/>
          </a:xfrm>
          <a:prstGeom xmlns:a="http://schemas.openxmlformats.org/drawingml/2006/main" prst="rect">
            <a:avLst/>
          </a:prstGeom>
          <a:solidFill xmlns:a="http://schemas.openxmlformats.org/drawingml/2006/main">
            <a:srgbClr val="F8FAFC"/>
          </a:solidFill>
        </p:spPr>
        <p:txBody>
          <a:bodyPr xmlns:a="http://schemas.openxmlformats.org/drawingml/2006/main"/>
          <a:lstStyle xmlns:a="http://schemas.openxmlformats.org/drawingml/2006/main"/>
          <a:p xmlns:a="http://schemas.openxmlformats.org/drawingml/2006/main">
            <a:r>
              <a:rPr lang="en-US" sz="1200">
                <a:solidFill>
                  <a:srgbClr val="1E293B"/>
                </a:solidFill>
              </a:rPr>
              <a:t>📊  Tab 4</a:t>
            </a:r>
          </a:p>
          <a:p xmlns:a="http://schemas.openxmlformats.org/drawingml/2006/main">
            <a:r>
              <a:rPr lang="en-US" sz="1200">
                <a:solidFill>
                  <a:srgbClr val="1E293B"/>
                </a:solidFill>
              </a:rPr>
              <a:t>Summaries</a:t>
            </a:r>
          </a:p>
          <a:p xmlns:a="http://schemas.openxmlformats.org/drawingml/2006/main">
            <a:r>
              <a:rPr lang="en-US" sz="1200">
                <a:solidFill>
                  <a:srgbClr val="1E293B"/>
                </a:solidFill>
              </a:rPr>
              <a:t/>
            </a:r>
          </a:p>
          <a:p xmlns:a="http://schemas.openxmlformats.org/drawingml/2006/main">
            <a:r>
              <a:rPr lang="en-US" sz="1200">
                <a:solidFill>
                  <a:srgbClr val="1E293B"/>
                </a:solidFill>
              </a:rPr>
              <a:t>KPI cards, country/product/customer/monthly tables with colour gradients</a:t>
            </a:r>
          </a:p>
        </p:txBody>
      </p:sp>
      <p:sp>
        <p:nvSpPr>
          <p:cNvPr id="100086" name="T5"/>
          <p:cNvSpPr txBox="1"/>
          <p:nvPr/>
        </p:nvSpPr>
        <p:spPr>
          <a:xfrm xmlns:a="http://schemas.openxmlformats.org/drawingml/2006/main">
            <a:off x="3744000" y="2736000"/>
            <a:ext cx="3168000" cy="1260000"/>
          </a:xfrm>
          <a:prstGeom xmlns:a="http://schemas.openxmlformats.org/drawingml/2006/main" prst="rect">
            <a:avLst/>
          </a:prstGeom>
          <a:solidFill xmlns:a="http://schemas.openxmlformats.org/drawingml/2006/main">
            <a:srgbClr val="F8FAFC"/>
          </a:solidFill>
        </p:spPr>
        <p:txBody>
          <a:bodyPr xmlns:a="http://schemas.openxmlformats.org/drawingml/2006/main"/>
          <a:lstStyle xmlns:a="http://schemas.openxmlformats.org/drawingml/2006/main"/>
          <a:p xmlns:a="http://schemas.openxmlformats.org/drawingml/2006/main">
            <a:r>
              <a:rPr lang="en-US" sz="1200">
                <a:solidFill>
                  <a:srgbClr val="1E293B"/>
                </a:solidFill>
              </a:rPr>
              <a:t>📈  Tab 5</a:t>
            </a:r>
          </a:p>
          <a:p xmlns:a="http://schemas.openxmlformats.org/drawingml/2006/main">
            <a:r>
              <a:rPr lang="en-US" sz="1200">
                <a:solidFill>
                  <a:srgbClr val="1E293B"/>
                </a:solidFill>
              </a:rPr>
              <a:t>Charts</a:t>
            </a:r>
          </a:p>
          <a:p xmlns:a="http://schemas.openxmlformats.org/drawingml/2006/main">
            <a:r>
              <a:rPr lang="en-US" sz="1200">
                <a:solidFill>
                  <a:srgbClr val="1E293B"/>
                </a:solidFill>
              </a:rPr>
              <a:t/>
            </a:r>
          </a:p>
          <a:p xmlns:a="http://schemas.openxmlformats.org/drawingml/2006/main">
            <a:r>
              <a:rPr lang="en-US" sz="1200">
                <a:solidFill>
                  <a:srgbClr val="1E293B"/>
                </a:solidFill>
              </a:rPr>
              <a:t>12 interactive Plotly charts: bar, line, pie, heatmap, dual-axis</a:t>
            </a:r>
          </a:p>
        </p:txBody>
      </p:sp>
      <p:sp>
        <p:nvSpPr>
          <p:cNvPr id="100087" name="T6"/>
          <p:cNvSpPr txBox="1"/>
          <p:nvPr/>
        </p:nvSpPr>
        <p:spPr>
          <a:xfrm xmlns:a="http://schemas.openxmlformats.org/drawingml/2006/main">
            <a:off x="7056000" y="2736000"/>
            <a:ext cx="3384000" cy="1260000"/>
          </a:xfrm>
          <a:prstGeom xmlns:a="http://schemas.openxmlformats.org/drawingml/2006/main" prst="rect">
            <a:avLst/>
          </a:prstGeom>
          <a:solidFill xmlns:a="http://schemas.openxmlformats.org/drawingml/2006/main">
            <a:srgbClr val="F8FAFC"/>
          </a:solidFill>
        </p:spPr>
        <p:txBody>
          <a:bodyPr xmlns:a="http://schemas.openxmlformats.org/drawingml/2006/main"/>
          <a:lstStyle xmlns:a="http://schemas.openxmlformats.org/drawingml/2006/main"/>
          <a:p xmlns:a="http://schemas.openxmlformats.org/drawingml/2006/main">
            <a:r>
              <a:rPr lang="en-US" sz="1200">
                <a:solidFill>
                  <a:srgbClr val="1E293B"/>
                </a:solidFill>
              </a:rPr>
              <a:t>💡  Tab 6</a:t>
            </a:r>
          </a:p>
          <a:p xmlns:a="http://schemas.openxmlformats.org/drawingml/2006/main">
            <a:r>
              <a:rPr lang="en-US" sz="1200">
                <a:solidFill>
                  <a:srgbClr val="1E293B"/>
                </a:solidFill>
              </a:rPr>
              <a:t>Decisions</a:t>
            </a:r>
          </a:p>
          <a:p xmlns:a="http://schemas.openxmlformats.org/drawingml/2006/main">
            <a:r>
              <a:rPr lang="en-US" sz="1200">
                <a:solidFill>
                  <a:srgbClr val="1E293B"/>
                </a:solidFill>
              </a:rPr>
              <a:t/>
            </a:r>
          </a:p>
          <a:p xmlns:a="http://schemas.openxmlformats.org/drawingml/2006/main">
            <a:r>
              <a:rPr lang="en-US" sz="1200">
                <a:solidFill>
                  <a:srgbClr val="1E293B"/>
                </a:solidFill>
              </a:rPr>
              <a:t>8 business recommendations, country scorecard, top-10 invoice table</a:t>
            </a:r>
          </a:p>
        </p:txBody>
      </p:sp>
      <p:sp>
        <p:nvSpPr>
          <p:cNvPr id="100088" name="Sidebar"/>
          <p:cNvSpPr txBox="1"/>
          <p:nvPr/>
        </p:nvSpPr>
        <p:spPr>
          <a:xfrm xmlns:a="http://schemas.openxmlformats.org/drawingml/2006/main">
            <a:off x="432000" y="4140000"/>
            <a:ext cx="10008000" cy="1260000"/>
          </a:xfrm>
          <a:prstGeom xmlns:a="http://schemas.openxmlformats.org/drawingml/2006/main" prst="rect">
            <a:avLst/>
          </a:prstGeom>
          <a:solidFill xmlns:a="http://schemas.openxmlformats.org/drawingml/2006/main">
            <a:srgbClr val="EFF6FF"/>
          </a:solidFill>
        </p:spPr>
        <p:txBody>
          <a:bodyPr xmlns:a="http://schemas.openxmlformats.org/drawingml/2006/main"/>
          <a:lstStyle xmlns:a="http://schemas.openxmlformats.org/drawingml/2006/main"/>
          <a:p xmlns:a="http://schemas.openxmlformats.org/drawingml/2006/main">
            <a:r>
              <a:rPr lang="en-US" sz="1300">
                <a:solidFill>
                  <a:srgbClr val="1E293B"/>
                </a:solidFill>
              </a:rPr>
              <a:t>Sidebar Filters  (update all 6 tabs live)</a:t>
            </a:r>
          </a:p>
          <a:p xmlns:a="http://schemas.openxmlformats.org/drawingml/2006/main">
            <a:r>
              <a:rPr lang="en-US" sz="1300">
                <a:solidFill>
                  <a:srgbClr val="1E293B"/>
                </a:solidFill>
              </a:rPr>
              <a:t/>
            </a:r>
          </a:p>
          <a:p xmlns:a="http://schemas.openxmlformats.org/drawingml/2006/main">
            <a:r>
              <a:rPr lang="en-US" sz="1300">
                <a:solidFill>
                  <a:srgbClr val="1E293B"/>
                </a:solidFill>
              </a:rPr>
              <a:t>  • Country multi-select  —  filter to one or more specific countries</a:t>
            </a:r>
          </a:p>
          <a:p xmlns:a="http://schemas.openxmlformats.org/drawingml/2006/main">
            <a:r>
              <a:rPr lang="en-US" sz="1300">
                <a:solidFill>
                  <a:srgbClr val="1E293B"/>
                </a:solidFill>
              </a:rPr>
              <a:t>  • Date range picker  —  zoom in on any time window</a:t>
            </a:r>
          </a:p>
          <a:p xmlns:a="http://schemas.openxmlformats.org/drawingml/2006/main">
            <a:r>
              <a:rPr lang="en-US" sz="1300">
                <a:solidFill>
                  <a:srgbClr val="1E293B"/>
                </a:solidFill>
              </a:rPr>
              <a:t>  • Row count indicator  —  shows how many rows are in the current selection</a:t>
            </a:r>
          </a:p>
        </p:txBody>
      </p:sp>
      <p:sp>
        <p:nvSpPr>
          <p:cNvPr id="100089" name="Run"/>
          <p:cNvSpPr txBox="1"/>
          <p:nvPr/>
        </p:nvSpPr>
        <p:spPr>
          <a:xfrm xmlns:a="http://schemas.openxmlformats.org/drawingml/2006/main">
            <a:off x="432000" y="5544000"/>
            <a:ext cx="10008000" cy="324000"/>
          </a:xfrm>
          <a:prstGeom xmlns:a="http://schemas.openxmlformats.org/drawingml/2006/main" prst="rect">
            <a:avLst/>
          </a:prstGeom>
          <a:solidFill xmlns:a="http://schemas.openxmlformats.org/drawingml/2006/main">
            <a:srgbClr val="F0FDF4"/>
          </a:solidFill>
        </p:spPr>
        <p:txBody>
          <a:bodyPr xmlns:a="http://schemas.openxmlformats.org/drawingml/2006/main"/>
          <a:lstStyle xmlns:a="http://schemas.openxmlformats.org/drawingml/2006/main"/>
          <a:p xmlns:a="http://schemas.openxmlformats.org/drawingml/2006/main">
            <a:pPr algn="ctr"/>
            <a:r>
              <a:rPr lang="en-US" sz="1400" b="1">
                <a:solidFill>
                  <a:srgbClr val="14532D"/>
                </a:solidFill>
              </a:rPr>
              <a:t>▶  Run:   streamlit run app.py   →   opens at  http://localhost:8501</a:t>
            </a:r>
          </a:p>
        </p:txBody>
      </p:sp>
    </p:spTree>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90" name="Accent"/>
          <p:cNvSpPr txBox="1"/>
          <p:nvPr/>
        </p:nvSpPr>
        <p:spPr>
          <a:xfrm xmlns:a="http://schemas.openxmlformats.org/drawingml/2006/main">
            <a:off x="0" y="0"/>
            <a:ext cx="216000" cy="6858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091" name="Title"/>
          <p:cNvSpPr txBox="1"/>
          <p:nvPr/>
        </p:nvSpPr>
        <p:spPr>
          <a:xfrm xmlns:a="http://schemas.openxmlformats.org/drawingml/2006/main">
            <a:off x="432000" y="288000"/>
            <a:ext cx="10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000" b="1">
                <a:solidFill>
                  <a:srgbClr val="1E3A5F"/>
                </a:solidFill>
              </a:rPr>
              <a:t>Tech Stack &amp; Project Structure</a:t>
            </a:r>
          </a:p>
        </p:txBody>
      </p:sp>
      <p:sp>
        <p:nvSpPr>
          <p:cNvPr id="100092" name="Line"/>
          <p:cNvSpPr txBox="1"/>
          <p:nvPr/>
        </p:nvSpPr>
        <p:spPr>
          <a:xfrm xmlns:a="http://schemas.openxmlformats.org/drawingml/2006/main">
            <a:off x="432000" y="864000"/>
            <a:ext cx="10080000" cy="216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093" name="Stack"/>
          <p:cNvSpPr txBox="1"/>
          <p:nvPr/>
        </p:nvSpPr>
        <p:spPr>
          <a:xfrm xmlns:a="http://schemas.openxmlformats.org/drawingml/2006/main">
            <a:off x="432000" y="1008000"/>
            <a:ext cx="5760000" cy="2520000"/>
          </a:xfrm>
          <a:prstGeom xmlns:a="http://schemas.openxmlformats.org/drawingml/2006/main" prst="rect">
            <a:avLst/>
          </a:prstGeom>
          <a:solidFill xmlns:a="http://schemas.openxmlformats.org/drawingml/2006/main">
            <a:srgbClr val="F1F5F9"/>
          </a:solidFill>
        </p:spPr>
        <p:txBody>
          <a:bodyPr xmlns:a="http://schemas.openxmlformats.org/drawingml/2006/main"/>
          <a:lstStyle xmlns:a="http://schemas.openxmlformats.org/drawingml/2006/main"/>
          <a:p xmlns:a="http://schemas.openxmlformats.org/drawingml/2006/main">
            <a:r>
              <a:rPr lang="en-US" sz="1300">
                <a:solidFill>
                  <a:srgbClr val="1E293B"/>
                </a:solidFill>
              </a:rPr>
              <a:t>Technology Stack</a:t>
            </a:r>
          </a:p>
          <a:p xmlns:a="http://schemas.openxmlformats.org/drawingml/2006/main">
            <a:r>
              <a:rPr lang="en-US" sz="1300">
                <a:solidFill>
                  <a:srgbClr val="1E293B"/>
                </a:solidFill>
              </a:rPr>
              <a:t/>
            </a:r>
          </a:p>
          <a:p xmlns:a="http://schemas.openxmlformats.org/drawingml/2006/main">
            <a:r>
              <a:rPr lang="en-US" sz="1300">
                <a:solidFill>
                  <a:srgbClr val="1E293B"/>
                </a:solidFill>
              </a:rPr>
              <a:t>  Python 3          Core language — data loading, cleaning, analysis</a:t>
            </a:r>
          </a:p>
          <a:p xmlns:a="http://schemas.openxmlformats.org/drawingml/2006/main">
            <a:r>
              <a:rPr lang="en-US" sz="1300">
                <a:solidFill>
                  <a:srgbClr val="1E293B"/>
                </a:solidFill>
              </a:rPr>
              <a:t>  Pandas              Data manipulation, groupby, pivot tables</a:t>
            </a:r>
          </a:p>
          <a:p xmlns:a="http://schemas.openxmlformats.org/drawingml/2006/main">
            <a:r>
              <a:rPr lang="en-US" sz="1300">
                <a:solidFill>
                  <a:srgbClr val="1E293B"/>
                </a:solidFill>
              </a:rPr>
              <a:t>  Plotly                Interactive charts (bar, line, pie, heatmap)</a:t>
            </a:r>
          </a:p>
          <a:p xmlns:a="http://schemas.openxmlformats.org/drawingml/2006/main">
            <a:r>
              <a:rPr lang="en-US" sz="1300">
                <a:solidFill>
                  <a:srgbClr val="1E293B"/>
                </a:solidFill>
              </a:rPr>
              <a:t>  Streamlit           Web dashboard framework, sidebar filters, tabs</a:t>
            </a:r>
          </a:p>
          <a:p xmlns:a="http://schemas.openxmlformats.org/drawingml/2006/main">
            <a:r>
              <a:rPr lang="en-US" sz="1300">
                <a:solidFill>
                  <a:srgbClr val="1E293B"/>
                </a:solidFill>
              </a:rPr>
              <a:t>  NumPy              Numeric support</a:t>
            </a:r>
          </a:p>
        </p:txBody>
      </p:sp>
      <p:sp>
        <p:nvSpPr>
          <p:cNvPr id="100094" name="Structure"/>
          <p:cNvSpPr txBox="1"/>
          <p:nvPr/>
        </p:nvSpPr>
        <p:spPr>
          <a:xfrm xmlns:a="http://schemas.openxmlformats.org/drawingml/2006/main">
            <a:off x="6408000" y="1008000"/>
            <a:ext cx="4104000" cy="2520000"/>
          </a:xfrm>
          <a:prstGeom xmlns:a="http://schemas.openxmlformats.org/drawingml/2006/main" prst="rect">
            <a:avLst/>
          </a:prstGeom>
          <a:solidFill xmlns:a="http://schemas.openxmlformats.org/drawingml/2006/main">
            <a:srgbClr val="F1F5F9"/>
          </a:solidFill>
        </p:spPr>
        <p:txBody>
          <a:bodyPr xmlns:a="http://schemas.openxmlformats.org/drawingml/2006/main"/>
          <a:lstStyle xmlns:a="http://schemas.openxmlformats.org/drawingml/2006/main"/>
          <a:p xmlns:a="http://schemas.openxmlformats.org/drawingml/2006/main">
            <a:r>
              <a:rPr lang="en-US" sz="1300">
                <a:solidFill>
                  <a:srgbClr val="1E293B"/>
                </a:solidFill>
              </a:rPr>
              <a:t>Project Structure (mahak/)</a:t>
            </a:r>
          </a:p>
          <a:p xmlns:a="http://schemas.openxmlformats.org/drawingml/2006/main">
            <a:r>
              <a:rPr lang="en-US" sz="1300">
                <a:solidFill>
                  <a:srgbClr val="1E293B"/>
                </a:solidFill>
              </a:rPr>
              <a:t/>
            </a:r>
          </a:p>
          <a:p xmlns:a="http://schemas.openxmlformats.org/drawingml/2006/main">
            <a:r>
              <a:rPr lang="en-US" sz="1300">
                <a:solidFill>
                  <a:srgbClr val="1E293B"/>
                </a:solidFill>
              </a:rPr>
              <a:t>  app.py                  Main Streamlit app (all 6 steps)</a:t>
            </a:r>
          </a:p>
          <a:p xmlns:a="http://schemas.openxmlformats.org/drawingml/2006/main">
            <a:r>
              <a:rPr lang="en-US" sz="1300">
                <a:solidFill>
                  <a:srgbClr val="1E293B"/>
                </a:solidFill>
              </a:rPr>
              <a:t>  requirements.txt     Python dependencies</a:t>
            </a:r>
          </a:p>
          <a:p xmlns:a="http://schemas.openxmlformats.org/drawingml/2006/main">
            <a:r>
              <a:rPr lang="en-US" sz="1300">
                <a:solidFill>
                  <a:srgbClr val="1E293B"/>
                </a:solidFill>
              </a:rPr>
              <a:t>  README.md          Setup &amp; run instructions</a:t>
            </a:r>
          </a:p>
          <a:p xmlns:a="http://schemas.openxmlformats.org/drawingml/2006/main">
            <a:r>
              <a:rPr lang="en-US" sz="1300">
                <a:solidFill>
                  <a:srgbClr val="1E293B"/>
                </a:solidFill>
              </a:rPr>
              <a:t>  data/</a:t>
            </a:r>
          </a:p>
          <a:p xmlns:a="http://schemas.openxmlformats.org/drawingml/2006/main">
            <a:r>
              <a:rPr lang="en-US" sz="1300">
                <a:solidFill>
                  <a:srgbClr val="1E293B"/>
                </a:solidFill>
              </a:rPr>
              <a:t>    supermarket_data.csv</a:t>
            </a:r>
          </a:p>
          <a:p xmlns:a="http://schemas.openxmlformats.org/drawingml/2006/main">
            <a:r>
              <a:rPr lang="en-US" sz="1300">
                <a:solidFill>
                  <a:srgbClr val="1E293B"/>
                </a:solidFill>
              </a:rPr>
              <a:t>  src/</a:t>
            </a:r>
          </a:p>
          <a:p xmlns:a="http://schemas.openxmlformats.org/drawingml/2006/main">
            <a:r>
              <a:rPr lang="en-US" sz="1300">
                <a:solidFill>
                  <a:srgbClr val="1E293B"/>
                </a:solidFill>
              </a:rPr>
              <a:t>    data_loader.py      Steps 1, 2 &amp; 3</a:t>
            </a:r>
          </a:p>
          <a:p xmlns:a="http://schemas.openxmlformats.org/drawingml/2006/main">
            <a:r>
              <a:rPr lang="en-US" sz="1300">
                <a:solidFill>
                  <a:srgbClr val="1E293B"/>
                </a:solidFill>
              </a:rPr>
              <a:t>    analysis.py            Step 4 summaries</a:t>
            </a:r>
          </a:p>
          <a:p xmlns:a="http://schemas.openxmlformats.org/drawingml/2006/main">
            <a:r>
              <a:rPr lang="en-US" sz="1300">
                <a:solidFill>
                  <a:srgbClr val="1E293B"/>
                </a:solidFill>
              </a:rPr>
              <a:t>    __init__.py</a:t>
            </a:r>
          </a:p>
          <a:p xmlns:a="http://schemas.openxmlformats.org/drawingml/2006/main">
            <a:r>
              <a:rPr lang="en-US" sz="1300">
                <a:solidFill>
                  <a:srgbClr val="1E293B"/>
                </a:solidFill>
              </a:rPr>
              <a:t>  .streamlit/</a:t>
            </a:r>
          </a:p>
          <a:p xmlns:a="http://schemas.openxmlformats.org/drawingml/2006/main">
            <a:r>
              <a:rPr lang="en-US" sz="1300">
                <a:solidFill>
                  <a:srgbClr val="1E293B"/>
                </a:solidFill>
              </a:rPr>
              <a:t>    config.toml           Theme (blue / light)</a:t>
            </a:r>
          </a:p>
        </p:txBody>
      </p:sp>
      <p:sp>
        <p:nvSpPr>
          <p:cNvPr id="100095" name="Arch"/>
          <p:cNvSpPr txBox="1"/>
          <p:nvPr/>
        </p:nvSpPr>
        <p:spPr>
          <a:xfrm xmlns:a="http://schemas.openxmlformats.org/drawingml/2006/main">
            <a:off x="432000" y="3672000"/>
            <a:ext cx="10008000" cy="1800000"/>
          </a:xfrm>
          <a:prstGeom xmlns:a="http://schemas.openxmlformats.org/drawingml/2006/main" prst="rect">
            <a:avLst/>
          </a:prstGeom>
          <a:solidFill xmlns:a="http://schemas.openxmlformats.org/drawingml/2006/main">
            <a:srgbClr val="EFF6FF"/>
          </a:solidFill>
        </p:spPr>
        <p:txBody>
          <a:bodyPr xmlns:a="http://schemas.openxmlformats.org/drawingml/2006/main"/>
          <a:lstStyle xmlns:a="http://schemas.openxmlformats.org/drawingml/2006/main"/>
          <a:p xmlns:a="http://schemas.openxmlformats.org/drawingml/2006/main">
            <a:r>
              <a:rPr lang="en-US" sz="1400">
                <a:solidFill>
                  <a:srgbClr val="1E293B"/>
                </a:solidFill>
              </a:rPr>
              <a:t>Architecture</a:t>
            </a:r>
          </a:p>
          <a:p xmlns:a="http://schemas.openxmlformats.org/drawingml/2006/main">
            <a:r>
              <a:rPr lang="en-US" sz="1400">
                <a:solidFill>
                  <a:srgbClr val="1E293B"/>
                </a:solidFill>
              </a:rPr>
              <a:t/>
            </a:r>
          </a:p>
          <a:p xmlns:a="http://schemas.openxmlformats.org/drawingml/2006/main">
            <a:r>
              <a:rPr lang="en-US" sz="1400">
                <a:solidFill>
                  <a:srgbClr val="1E293B"/>
                </a:solidFill>
              </a:rPr>
              <a:t>supermarket_data.csv</a:t>
            </a:r>
          </a:p>
          <a:p xmlns:a="http://schemas.openxmlformats.org/drawingml/2006/main">
            <a:r>
              <a:rPr lang="en-US" sz="1400">
                <a:solidFill>
                  <a:srgbClr val="1E293B"/>
                </a:solidFill>
              </a:rPr>
              <a:t>        ↓</a:t>
            </a:r>
          </a:p>
          <a:p xmlns:a="http://schemas.openxmlformats.org/drawingml/2006/main">
            <a:r>
              <a:rPr lang="en-US" sz="1400">
                <a:solidFill>
                  <a:srgbClr val="1E293B"/>
                </a:solidFill>
              </a:rPr>
              <a:t>  data_loader.py  (load → clean → Sales formula)</a:t>
            </a:r>
          </a:p>
          <a:p xmlns:a="http://schemas.openxmlformats.org/drawingml/2006/main">
            <a:r>
              <a:rPr lang="en-US" sz="1400">
                <a:solidFill>
                  <a:srgbClr val="1E293B"/>
                </a:solidFill>
              </a:rPr>
              <a:t>        ↓</a:t>
            </a:r>
          </a:p>
          <a:p xmlns:a="http://schemas.openxmlformats.org/drawingml/2006/main">
            <a:r>
              <a:rPr lang="en-US" sz="1400">
                <a:solidFill>
                  <a:srgbClr val="1E293B"/>
                </a:solidFill>
              </a:rPr>
              <a:t>  analysis.py  (groupby → KPIs → summary tables)</a:t>
            </a:r>
          </a:p>
          <a:p xmlns:a="http://schemas.openxmlformats.org/drawingml/2006/main">
            <a:r>
              <a:rPr lang="en-US" sz="1400">
                <a:solidFill>
                  <a:srgbClr val="1E293B"/>
                </a:solidFill>
              </a:rPr>
              <a:t>        ↓</a:t>
            </a:r>
          </a:p>
          <a:p xmlns:a="http://schemas.openxmlformats.org/drawingml/2006/main">
            <a:r>
              <a:rPr lang="en-US" sz="1400">
                <a:solidFill>
                  <a:srgbClr val="1E293B"/>
                </a:solidFill>
              </a:rPr>
              <a:t>  app.py  (Streamlit tabs + Plotly charts + recommendations)</a:t>
            </a:r>
          </a:p>
        </p:txBody>
      </p:sp>
      <p:sp>
        <p:nvSpPr>
          <p:cNvPr id="100096" name="Install"/>
          <p:cNvSpPr txBox="1"/>
          <p:nvPr/>
        </p:nvSpPr>
        <p:spPr>
          <a:xfrm xmlns:a="http://schemas.openxmlformats.org/drawingml/2006/main">
            <a:off x="432000" y="5616000"/>
            <a:ext cx="10008000" cy="324000"/>
          </a:xfrm>
          <a:prstGeom xmlns:a="http://schemas.openxmlformats.org/drawingml/2006/main" prst="rect">
            <a:avLst/>
          </a:prstGeom>
          <a:solidFill xmlns:a="http://schemas.openxmlformats.org/drawingml/2006/main">
            <a:srgbClr val="F0FDF4"/>
          </a:solidFill>
        </p:spPr>
        <p:txBody>
          <a:bodyPr xmlns:a="http://schemas.openxmlformats.org/drawingml/2006/main"/>
          <a:lstStyle xmlns:a="http://schemas.openxmlformats.org/drawingml/2006/main"/>
          <a:p xmlns:a="http://schemas.openxmlformats.org/drawingml/2006/main">
            <a:pPr algn="ctr"/>
            <a:r>
              <a:rPr lang="en-US" sz="1400" b="1">
                <a:solidFill>
                  <a:srgbClr val="14532D"/>
                </a:solidFill>
              </a:rPr>
              <a:t>pip install -r requirements.txt   →   streamlit run app.py</a:t>
            </a:r>
          </a:p>
        </p:txBody>
      </p:sp>
    </p:spTree>
  </p:cSld>
</p:sld>
</file>

<file path=ppt/slides/slide11.xml><?xml version="1.0" encoding="utf-8"?>
<p:sld xmlns:p="http://schemas.openxmlformats.org/presentationml/2006/main">
  <p:cSld>
    <p:bg>
      <p:bgPr>
        <a:solidFill xmlns:a="http://schemas.openxmlformats.org/drawingml/2006/main">
          <a:srgbClr val="1E3A5F"/>
        </a:solidFill>
      </p:bgPr>
    </p:bg>
    <p:spTree>
      <p:nvGrpSpPr>
        <p:cNvPr id="1" name=""/>
        <p:cNvGrpSpPr/>
        <p:nvPr/>
      </p:nvGrpSpPr>
      <p:grpSpPr/>
      <p:sp>
        <p:nvSpPr>
          <p:cNvPr id="100097" name="TY"/>
          <p:cNvSpPr txBox="1"/>
          <p:nvPr/>
        </p:nvSpPr>
        <p:spPr>
          <a:xfrm xmlns:a="http://schemas.openxmlformats.org/drawingml/2006/main">
            <a:off x="720000" y="1440000"/>
            <a:ext cx="10440000" cy="12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algn="ctr"/>
            <a:r>
              <a:rPr lang="en-US" sz="5200" b="1">
                <a:solidFill>
                  <a:srgbClr val="FFFFFF"/>
                </a:solidFill>
              </a:rPr>
              <a:t>Thank You</a:t>
            </a:r>
          </a:p>
        </p:txBody>
      </p:sp>
      <p:sp>
        <p:nvSpPr>
          <p:cNvPr id="100098" name="Sub"/>
          <p:cNvSpPr txBox="1"/>
          <p:nvPr/>
        </p:nvSpPr>
        <p:spPr>
          <a:xfrm xmlns:a="http://schemas.openxmlformats.org/drawingml/2006/main">
            <a:off x="720000" y="2772000"/>
            <a:ext cx="1044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algn="ctr"/>
            <a:r>
              <a:rPr lang="en-US" sz="2200">
                <a:solidFill>
                  <a:srgbClr val="B0C4DE"/>
                </a:solidFill>
              </a:rPr>
              <a:t>Questions &amp; Discussion</a:t>
            </a:r>
          </a:p>
        </p:txBody>
      </p:sp>
      <p:sp>
        <p:nvSpPr>
          <p:cNvPr id="100099" name="Summary"/>
          <p:cNvSpPr txBox="1"/>
          <p:nvPr/>
        </p:nvSpPr>
        <p:spPr>
          <a:xfrm xmlns:a="http://schemas.openxmlformats.org/drawingml/2006/main">
            <a:off x="720000" y="4320000"/>
            <a:ext cx="10440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algn="ctr"/>
            <a:r>
              <a:rPr lang="en-US" sz="1300">
                <a:solidFill>
                  <a:srgbClr val="90A4AE"/>
                </a:solidFill>
              </a:rPr>
              <a:t>Project:  Supermarket Sales Analytics  ·  Dataset: UK Retail Transactions  ·  Steps: 1 – 6  ·  Tools: Python · Pandas · Streamlit · Plotly</a:t>
            </a:r>
          </a:p>
        </p:txBody>
      </p:sp>
      <p:sp>
        <p:nvSpPr>
          <p:cNvPr id="100100" name="Run2"/>
          <p:cNvSpPr txBox="1"/>
          <p:nvPr/>
        </p:nvSpPr>
        <p:spPr>
          <a:xfrm xmlns:a="http://schemas.openxmlformats.org/drawingml/2006/main">
            <a:off x="3240000" y="5040000"/>
            <a:ext cx="5400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algn="ctr"/>
            <a:r>
              <a:rPr lang="en-US" sz="1500" b="1">
                <a:solidFill>
                  <a:srgbClr val="7EC8E3"/>
                </a:solidFill>
              </a:rPr>
              <a:t>▶  streamlit run mahak/app.py</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OfficeCLI/1.0.144</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2026-09-23T16:18:58Z</dcterms:created>
  <cp:lastModifiedBy>OfficeCLI</cp:lastModifiedBy>
  <dcterms:modified xsi:type="dcterms:W3CDTF">2026-09-23T16:18:58Z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1.0.152</vt:lpwstr>
  </op:property>
  <op:property fmtid="{D5CDD505-2E9C-101B-9397-08002B2CF9AE}" pid="3" name="OfficeCLI.LastModified">
    <vt:lpwstr xmlns:vt="http://schemas.openxmlformats.org/officeDocument/2006/docPropsVTypes">2026-09-23T16:23:16Z</vt:lpwstr>
  </op:property>
</op:Properties>
</file>